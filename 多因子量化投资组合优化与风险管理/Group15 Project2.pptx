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57" r:id="rId6"/>
    <p:sldId id="260" r:id="rId7"/>
    <p:sldId id="261" r:id="rId8"/>
    <p:sldId id="262" r:id="rId9"/>
    <p:sldId id="266" r:id="rId10"/>
    <p:sldId id="267" r:id="rId11"/>
    <p:sldId id="286" r:id="rId12"/>
    <p:sldId id="280" r:id="rId13"/>
    <p:sldId id="278" r:id="rId14"/>
    <p:sldId id="281" r:id="rId15"/>
    <p:sldId id="284" r:id="rId16"/>
    <p:sldId id="270" r:id="rId17"/>
    <p:sldId id="283" r:id="rId18"/>
    <p:sldId id="271" r:id="rId19"/>
    <p:sldId id="282" r:id="rId20"/>
    <p:sldId id="273" r:id="rId21"/>
    <p:sldId id="274" r:id="rId22"/>
    <p:sldId id="275" r:id="rId23"/>
    <p:sldId id="276" r:id="rId24"/>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gs" Target="tags/tag170.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0" Type="http://schemas.openxmlformats.org/officeDocument/2006/relationships/tags" Target="../tags/tag54.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2"/>
        </a:solidFill>
        <a:effectLst/>
      </p:bgPr>
    </p:bg>
    <p:spTree>
      <p:nvGrpSpPr>
        <p:cNvPr id="1" name=""/>
        <p:cNvGrpSpPr/>
        <p:nvPr/>
      </p:nvGrpSpPr>
      <p:grpSpPr>
        <a:xfrm>
          <a:off x="0" y="0"/>
          <a:ext cx="0" cy="0"/>
          <a:chOff x="0" y="0"/>
          <a:chExt cx="0" cy="0"/>
        </a:xfrm>
      </p:grpSpPr>
      <p:sp>
        <p:nvSpPr>
          <p:cNvPr id="15" name="任意多边形 14"/>
          <p:cNvSpPr/>
          <p:nvPr>
            <p:custDataLst>
              <p:tags r:id="rId2"/>
            </p:custDataLst>
          </p:nvPr>
        </p:nvSpPr>
        <p:spPr>
          <a:xfrm>
            <a:off x="-14605" y="0"/>
            <a:ext cx="6006465" cy="6858000"/>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12" name="任意多边形 11"/>
          <p:cNvSpPr/>
          <p:nvPr>
            <p:custDataLst>
              <p:tags r:id="rId3"/>
            </p:custDataLst>
          </p:nvPr>
        </p:nvSpPr>
        <p:spPr>
          <a:xfrm rot="16200000">
            <a:off x="-1383662" y="1369058"/>
            <a:ext cx="6857999"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cs typeface="MiSans Normal" panose="00000500000000000000" charset="-122"/>
            </a:endParaRPr>
          </a:p>
        </p:txBody>
      </p:sp>
      <p:sp>
        <p:nvSpPr>
          <p:cNvPr id="11" name="任意多边形 10"/>
          <p:cNvSpPr/>
          <p:nvPr>
            <p:custDataLst>
              <p:tags r:id="rId4"/>
            </p:custDataLst>
          </p:nvPr>
        </p:nvSpPr>
        <p:spPr>
          <a:xfrm rot="16200000">
            <a:off x="-1331245" y="2313346"/>
            <a:ext cx="4864351" cy="223107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5" name="圆角矩形 24"/>
          <p:cNvSpPr/>
          <p:nvPr>
            <p:custDataLst>
              <p:tags r:id="rId5"/>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10" name="直接连接符 9"/>
          <p:cNvCxnSpPr/>
          <p:nvPr>
            <p:custDataLst>
              <p:tags r:id="rId6"/>
            </p:custDataLst>
          </p:nvPr>
        </p:nvCxnSpPr>
        <p:spPr>
          <a:xfrm>
            <a:off x="11197590" y="300291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7"/>
            </p:custDataLst>
          </p:nvPr>
        </p:nvCxnSpPr>
        <p:spPr>
          <a:xfrm>
            <a:off x="11305540" y="193421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11305540" y="347662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custDataLst>
              <p:tags r:id="rId9"/>
            </p:custDataLst>
          </p:nvPr>
        </p:nvSpPr>
        <p:spPr>
          <a:xfrm>
            <a:off x="10027285" y="4343400"/>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21" name="椭圆 20"/>
          <p:cNvSpPr/>
          <p:nvPr>
            <p:custDataLst>
              <p:tags r:id="rId10"/>
            </p:custDataLst>
          </p:nvPr>
        </p:nvSpPr>
        <p:spPr>
          <a:xfrm>
            <a:off x="10133965" y="4450080"/>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lnSpcReduction="20000"/>
          </a:bodyPr>
          <a:lstStyle/>
          <a:p>
            <a:pPr algn="ctr"/>
            <a:endParaRPr lang="zh-CN" altLang="en-US">
              <a:cs typeface="MiSans Normal" panose="00000500000000000000" charset="-122"/>
            </a:endParaRPr>
          </a:p>
        </p:txBody>
      </p:sp>
      <p:sp>
        <p:nvSpPr>
          <p:cNvPr id="90" name="向下箭头"/>
          <p:cNvSpPr/>
          <p:nvPr>
            <p:custDataLst>
              <p:tags r:id="rId11"/>
            </p:custDataLst>
          </p:nvPr>
        </p:nvSpPr>
        <p:spPr>
          <a:xfrm>
            <a:off x="10238105" y="4542790"/>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14" name="任意多边形 13"/>
          <p:cNvSpPr/>
          <p:nvPr>
            <p:custDataLst>
              <p:tags r:id="rId12"/>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3"/>
            </p:custDataLst>
          </p:nvPr>
        </p:nvSpPr>
        <p:spPr>
          <a:xfrm>
            <a:off x="2273300" y="1901190"/>
            <a:ext cx="8413750" cy="170942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zh-CN" altLang="en-US" sz="7200" b="0" i="0" u="none" strike="noStrike" kern="1200" cap="none" spc="0" normalizeH="0" baseline="0" noProof="1" dirty="0">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dirty="0">
                <a:sym typeface="+mn-ea"/>
              </a:rPr>
              <a:t>单击此处编辑标题</a:t>
            </a:r>
            <a:endParaRPr dirty="0">
              <a:sym typeface="+mn-ea"/>
            </a:endParaRPr>
          </a:p>
        </p:txBody>
      </p:sp>
      <p:sp>
        <p:nvSpPr>
          <p:cNvPr id="4" name="日期占位符 3"/>
          <p:cNvSpPr>
            <a:spLocks noGrp="1"/>
          </p:cNvSpPr>
          <p:nvPr>
            <p:ph type="dt" sz="half" idx="10"/>
            <p:custDataLst>
              <p:tags r:id="rId1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8" name="署名占位符 10"/>
          <p:cNvSpPr>
            <a:spLocks noGrp="1"/>
          </p:cNvSpPr>
          <p:nvPr>
            <p:ph type="body" sz="quarter" idx="17" hasCustomPrompt="1"/>
            <p:custDataLst>
              <p:tags r:id="rId17"/>
            </p:custDataLst>
          </p:nvPr>
        </p:nvSpPr>
        <p:spPr>
          <a:xfrm>
            <a:off x="2273299" y="4275976"/>
            <a:ext cx="7589519"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8" name="正文"/>
          <p:cNvSpPr txBox="1">
            <a:spLocks noGrp="1"/>
          </p:cNvSpPr>
          <p:nvPr>
            <p:ph idx="3"/>
            <p:custDataLst>
              <p:tags r:id="rId2"/>
            </p:custDataLst>
          </p:nvPr>
        </p:nvSpPr>
        <p:spPr>
          <a:xfrm>
            <a:off x="695960" y="1245235"/>
            <a:ext cx="10800080" cy="493141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a:sym typeface="+mn-ea"/>
              </a:rPr>
              <a:t>单击此处编辑母版文本样式</a:t>
            </a:r>
            <a:endParaRPr>
              <a:sym typeface="+mn-ea"/>
            </a:endParaRPr>
          </a:p>
          <a:p>
            <a:pPr lvl="1">
              <a:spcBef>
                <a:spcPts val="1200"/>
              </a:spcBef>
              <a:spcAft>
                <a:spcPts val="0"/>
              </a:spcAft>
            </a:pPr>
            <a:r>
              <a:rPr>
                <a:sym typeface="+mn-ea"/>
              </a:rPr>
              <a:t>第二级</a:t>
            </a:r>
            <a:endParaRPr>
              <a:sym typeface="+mn-ea"/>
            </a:endParaRPr>
          </a:p>
          <a:p>
            <a:pPr lvl="2">
              <a:spcBef>
                <a:spcPts val="1200"/>
              </a:spcBef>
              <a:spcAft>
                <a:spcPts val="0"/>
              </a:spcAft>
            </a:pPr>
            <a:r>
              <a:rPr>
                <a:sym typeface="+mn-ea"/>
              </a:rPr>
              <a:t>第三级</a:t>
            </a:r>
            <a:endParaRPr>
              <a:sym typeface="+mn-ea"/>
            </a:endParaRPr>
          </a:p>
          <a:p>
            <a:pPr lvl="3">
              <a:spcBef>
                <a:spcPts val="1200"/>
              </a:spcBef>
              <a:spcAft>
                <a:spcPts val="0"/>
              </a:spcAft>
            </a:pPr>
            <a:r>
              <a:rPr>
                <a:sym typeface="+mn-ea"/>
              </a:rPr>
              <a:t>第四级</a:t>
            </a:r>
            <a:endParaRPr>
              <a:sym typeface="+mn-ea"/>
            </a:endParaRPr>
          </a:p>
          <a:p>
            <a:pPr lvl="4">
              <a:spcBef>
                <a:spcPts val="1200"/>
              </a:spcBef>
              <a:spcAft>
                <a:spcPts val="0"/>
              </a:spcAft>
            </a:pPr>
            <a:r>
              <a:rPr>
                <a:sym typeface="+mn-ea"/>
              </a:rPr>
              <a:t>第五级</a:t>
            </a:r>
            <a:endParaRPr>
              <a:sym typeface="+mn-ea"/>
            </a:endParaRP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a:spLocks noGrp="1"/>
          </p:cNvSpPr>
          <p:nvPr>
            <p:ph type="title" idx="1"/>
            <p:custDataLst>
              <p:tags r:id="rId4"/>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mj-lt"/>
                <a:ea typeface="+mj-lt"/>
                <a:cs typeface="MiSans Normal" panose="00000500000000000000" charset="-122"/>
                <a:sym typeface="+mn-ea"/>
              </a:defRPr>
            </a:lvl1pPr>
          </a:lstStyle>
          <a:p>
            <a:pPr lvl="0"/>
            <a:r>
              <a:rPr>
                <a:sym typeface="+mn-ea"/>
              </a:rPr>
              <a:t>单击此处编辑母版标题样式</a:t>
            </a:r>
            <a:endParaRPr>
              <a:sym typeface="+mn-ea"/>
            </a:endParaRPr>
          </a:p>
        </p:txBody>
      </p:sp>
      <p:sp>
        <p:nvSpPr>
          <p:cNvPr id="4" name="日期占位符 3"/>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cxnSp>
        <p:nvCxnSpPr>
          <p:cNvPr id="60" name="直接连接符 59"/>
          <p:cNvCxnSpPr/>
          <p:nvPr>
            <p:custDataLst>
              <p:tags r:id="rId2"/>
            </p:custDataLst>
          </p:nvPr>
        </p:nvCxnSpPr>
        <p:spPr>
          <a:xfrm>
            <a:off x="3509010" y="1475105"/>
            <a:ext cx="0" cy="4572000"/>
          </a:xfrm>
          <a:prstGeom prst="line">
            <a:avLst/>
          </a:prstGeom>
          <a:ln>
            <a:solidFill>
              <a:schemeClr val="bg2">
                <a:lumMod val="50000"/>
                <a:alpha val="2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任意多边形 7"/>
          <p:cNvSpPr/>
          <p:nvPr>
            <p:custDataLst>
              <p:tags r:id="rId3"/>
            </p:custDataLst>
          </p:nvPr>
        </p:nvSpPr>
        <p:spPr>
          <a:xfrm>
            <a:off x="-18415" y="0"/>
            <a:ext cx="2251075" cy="871855"/>
          </a:xfrm>
          <a:custGeom>
            <a:avLst/>
            <a:gdLst/>
            <a:ahLst/>
            <a:cxnLst>
              <a:cxn ang="3">
                <a:pos x="hc" y="t"/>
              </a:cxn>
              <a:cxn ang="cd2">
                <a:pos x="l" y="vc"/>
              </a:cxn>
              <a:cxn ang="cd4">
                <a:pos x="hc" y="b"/>
              </a:cxn>
              <a:cxn ang="0">
                <a:pos x="r" y="vc"/>
              </a:cxn>
            </a:cxnLst>
            <a:rect l="l" t="t" r="r" b="b"/>
            <a:pathLst>
              <a:path w="3545" h="1373">
                <a:moveTo>
                  <a:pt x="0" y="0"/>
                </a:moveTo>
                <a:lnTo>
                  <a:pt x="3545" y="0"/>
                </a:lnTo>
                <a:lnTo>
                  <a:pt x="3545" y="1023"/>
                </a:lnTo>
                <a:cubicBezTo>
                  <a:pt x="3545" y="1217"/>
                  <a:pt x="3389" y="1373"/>
                  <a:pt x="3195" y="1373"/>
                </a:cubicBezTo>
                <a:lnTo>
                  <a:pt x="9" y="1373"/>
                </a:lnTo>
                <a:lnTo>
                  <a:pt x="0" y="137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hasCustomPrompt="1"/>
            <p:custDataLst>
              <p:tags r:id="rId4"/>
            </p:custDataLst>
          </p:nvPr>
        </p:nvSpPr>
        <p:spPr>
          <a:xfrm>
            <a:off x="1166495" y="1793240"/>
            <a:ext cx="1375410" cy="3604895"/>
          </a:xfrm>
          <a:prstGeom prst="rect">
            <a:avLst/>
          </a:prstGeom>
          <a:noFill/>
        </p:spPr>
        <p:txBody>
          <a:bodyPr vert="eaVert"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a:solidFill>
                  <a:schemeClr val="tx1">
                    <a:lumMod val="85000"/>
                    <a:lumOff val="15000"/>
                  </a:schemeClr>
                </a:solidFill>
                <a:latin typeface="+mj-ea"/>
                <a:ea typeface="+mj-ea"/>
                <a:cs typeface="MiSans Normal" panose="00000500000000000000" charset="-122"/>
                <a:sym typeface="+mn-ea"/>
              </a:defRPr>
            </a:lvl1pPr>
          </a:lstStyle>
          <a:p>
            <a:pPr lvl="0" algn="l">
              <a:buClrTx/>
              <a:buSzTx/>
              <a:buFontTx/>
            </a:pPr>
            <a:r>
              <a:rPr dirty="0">
                <a:sym typeface="+mn-ea"/>
              </a:rPr>
              <a:t>标题</a:t>
            </a:r>
            <a:endParaRPr dirty="0">
              <a:sym typeface="+mn-ea"/>
            </a:endParaRPr>
          </a:p>
        </p:txBody>
      </p:sp>
      <p:sp>
        <p:nvSpPr>
          <p:cNvPr id="3" name="日期占位符 2"/>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2" name="椭圆 11"/>
          <p:cNvSpPr/>
          <p:nvPr>
            <p:custDataLst>
              <p:tags r:id="rId2"/>
            </p:custDataLst>
          </p:nvPr>
        </p:nvSpPr>
        <p:spPr>
          <a:xfrm rot="16200000">
            <a:off x="977900" y="1336040"/>
            <a:ext cx="4351020" cy="4351020"/>
          </a:xfrm>
          <a:prstGeom prst="ellipse">
            <a:avLst/>
          </a:prstGeom>
          <a:solidFill>
            <a:schemeClr val="bg2"/>
          </a:solidFill>
          <a:ln>
            <a:noFill/>
          </a:ln>
          <a:effectLst>
            <a:outerShdw blurRad="495300" dist="38100" dir="2700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11" name="椭圆 10"/>
          <p:cNvSpPr/>
          <p:nvPr>
            <p:custDataLst>
              <p:tags r:id="rId3"/>
            </p:custDataLst>
          </p:nvPr>
        </p:nvSpPr>
        <p:spPr>
          <a:xfrm rot="16200000">
            <a:off x="1828800" y="2186940"/>
            <a:ext cx="2649220" cy="2649220"/>
          </a:xfrm>
          <a:prstGeom prst="ellipse">
            <a:avLst/>
          </a:pr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9" name="弧形 8"/>
          <p:cNvSpPr/>
          <p:nvPr>
            <p:custDataLst>
              <p:tags r:id="rId4"/>
            </p:custDataLst>
          </p:nvPr>
        </p:nvSpPr>
        <p:spPr>
          <a:xfrm>
            <a:off x="301625" y="659765"/>
            <a:ext cx="5703570" cy="5703570"/>
          </a:xfrm>
          <a:prstGeom prst="arc">
            <a:avLst>
              <a:gd name="adj1" fmla="val 16200000"/>
              <a:gd name="adj2" fmla="val 5319923"/>
            </a:avLst>
          </a:prstGeom>
          <a:ln>
            <a:solidFill>
              <a:schemeClr val="bg2">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iSans Normal" panose="00000500000000000000" charset="-122"/>
            </a:endParaRPr>
          </a:p>
        </p:txBody>
      </p:sp>
      <p:sp>
        <p:nvSpPr>
          <p:cNvPr id="10" name="圆角矩形 9"/>
          <p:cNvSpPr/>
          <p:nvPr>
            <p:custDataLst>
              <p:tags r:id="rId5"/>
            </p:custDataLst>
          </p:nvPr>
        </p:nvSpPr>
        <p:spPr>
          <a:xfrm rot="10800000">
            <a:off x="6876415" y="3851910"/>
            <a:ext cx="2408555" cy="1593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sp>
        <p:nvSpPr>
          <p:cNvPr id="14" name="任意多边形 13"/>
          <p:cNvSpPr/>
          <p:nvPr>
            <p:custDataLst>
              <p:tags r:id="rId6"/>
            </p:custDataLst>
          </p:nvPr>
        </p:nvSpPr>
        <p:spPr>
          <a:xfrm flipV="1">
            <a:off x="8945880" y="0"/>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节编号"/>
          <p:cNvSpPr txBox="1">
            <a:spLocks noGrp="1"/>
          </p:cNvSpPr>
          <p:nvPr>
            <p:ph type="body" idx="2" hasCustomPrompt="1"/>
            <p:custDataLst>
              <p:tags r:id="rId7"/>
            </p:custDataLst>
          </p:nvPr>
        </p:nvSpPr>
        <p:spPr>
          <a:xfrm>
            <a:off x="1828800" y="3004185"/>
            <a:ext cx="2649220" cy="1208405"/>
          </a:xfrm>
          <a:prstGeom prst="rect">
            <a:avLst/>
          </a:prstGeom>
          <a:noFill/>
        </p:spPr>
        <p:txBody>
          <a:bodyPr wrap="square" lIns="91440" tIns="45720" rIns="91440" bIns="45720" rtlCol="0" anchor="t" anchorCtr="0">
            <a:normAutofit/>
          </a:bodyPr>
          <a:lstStyle>
            <a:lvl1pPr marL="0" marR="0" lvl="0" algn="ctr" defTabSz="914400" rtl="0" eaLnBrk="1" fontAlgn="auto" latinLnBrk="0" hangingPunct="1">
              <a:lnSpc>
                <a:spcPct val="100000"/>
              </a:lnSpc>
              <a:buClrTx/>
              <a:buSzTx/>
              <a:buFontTx/>
              <a:buNone/>
              <a:defRPr kumimoji="0" lang="en-US" altLang="zh-CN" sz="6000" b="0" i="0" u="none" strike="noStrike" kern="1200" cap="none" spc="200" normalizeH="0" baseline="0" noProof="1">
                <a:solidFill>
                  <a:schemeClr val="tx1">
                    <a:lumMod val="85000"/>
                    <a:lumOff val="15000"/>
                  </a:schemeClr>
                </a:solidFill>
                <a:uFillTx/>
                <a:latin typeface="MiSans Heavy" panose="00000A00000000000000" charset="-122"/>
                <a:ea typeface="MiSans Heavy" panose="00000A00000000000000" charset="-122"/>
                <a:cs typeface="MiSans Normal" panose="00000500000000000000" charset="-122"/>
                <a:sym typeface="+mn-ea"/>
              </a:defRPr>
            </a:lvl1pPr>
          </a:lstStyle>
          <a:p>
            <a:pPr lvl="0" algn="ctr">
              <a:buClrTx/>
              <a:buSzTx/>
              <a:buFontTx/>
            </a:pPr>
            <a:r>
              <a:rPr>
                <a:sym typeface="+mn-ea"/>
              </a:rPr>
              <a:t>节编号</a:t>
            </a:r>
            <a:endParaRPr>
              <a:sym typeface="+mn-ea"/>
            </a:endParaRPr>
          </a:p>
        </p:txBody>
      </p:sp>
      <p:sp>
        <p:nvSpPr>
          <p:cNvPr id="7" name="标题"/>
          <p:cNvSpPr txBox="1">
            <a:spLocks noGrp="1"/>
          </p:cNvSpPr>
          <p:nvPr>
            <p:ph type="title" idx="1" hasCustomPrompt="1"/>
            <p:custDataLst>
              <p:tags r:id="rId8"/>
            </p:custDataLst>
          </p:nvPr>
        </p:nvSpPr>
        <p:spPr>
          <a:xfrm>
            <a:off x="6732905" y="2092325"/>
            <a:ext cx="5005070" cy="1684020"/>
          </a:xfrm>
          <a:prstGeom prst="rect">
            <a:avLst/>
          </a:prstGeom>
          <a:noFill/>
        </p:spPr>
        <p:txBody>
          <a:bodyPr wrap="square" lIns="91440" tIns="45720" rIns="91440" bIns="45720" rtlCol="0" anchor="b" anchorCtr="0">
            <a:normAutofit/>
          </a:bodyPr>
          <a:lstStyle>
            <a:lvl1pPr marL="0" marR="0" lvl="0" algn="l" defTabSz="914400" rtl="0" eaLnBrk="1" fontAlgn="auto" latinLnBrk="0" hangingPunct="1">
              <a:lnSpc>
                <a:spcPct val="100000"/>
              </a:lnSpc>
              <a:buClrTx/>
              <a:buSzTx/>
              <a:buFontTx/>
              <a:buNone/>
              <a:defRPr kumimoji="0" lang="zh-CN" altLang="en-US" sz="4800" b="0" i="0" u="none" strike="noStrike" kern="1200" cap="none" spc="200" normalizeH="0" baseline="0" noProof="1">
                <a:solidFill>
                  <a:schemeClr val="tx1">
                    <a:lumMod val="85000"/>
                    <a:lumOff val="15000"/>
                  </a:schemeClr>
                </a:solidFill>
                <a:uFillTx/>
                <a:latin typeface="+mj-ea"/>
                <a:ea typeface="+mj-ea"/>
                <a:cs typeface="MiSans Normal" panose="00000500000000000000" charset="-122"/>
                <a:sym typeface="+mn-ea"/>
              </a:defRPr>
            </a:lvl1pPr>
          </a:lstStyle>
          <a:p>
            <a:pPr lvl="0" algn="l">
              <a:buClrTx/>
              <a:buSzTx/>
              <a:buFontTx/>
            </a:pPr>
            <a:r>
              <a:rPr>
                <a:sym typeface="+mn-ea"/>
              </a:rPr>
              <a:t>单击编辑标题</a:t>
            </a:r>
            <a:endParaRPr>
              <a:sym typeface="+mn-ea"/>
            </a:endParaRPr>
          </a:p>
        </p:txBody>
      </p:sp>
      <p:sp>
        <p:nvSpPr>
          <p:cNvPr id="4" name="日期占位符 3"/>
          <p:cNvSpPr>
            <a:spLocks noGrp="1"/>
          </p:cNvSpPr>
          <p:nvPr>
            <p:ph type="dt" sz="half" idx="10"/>
            <p:custDataLst>
              <p:tags r:id="rId9"/>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1"/>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sp>
        <p:nvSpPr>
          <p:cNvPr id="10" name="正文"/>
          <p:cNvSpPr txBox="1">
            <a:spLocks noGrp="1"/>
          </p:cNvSpPr>
          <p:nvPr>
            <p:ph idx="4"/>
            <p:custDataLst>
              <p:tags r:id="rId2"/>
            </p:custDataLst>
          </p:nvPr>
        </p:nvSpPr>
        <p:spPr>
          <a:xfrm>
            <a:off x="6400800" y="1245235"/>
            <a:ext cx="5095240" cy="4930775"/>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正文"/>
          <p:cNvSpPr txBox="1">
            <a:spLocks noGrp="1"/>
          </p:cNvSpPr>
          <p:nvPr>
            <p:ph idx="3"/>
            <p:custDataLst>
              <p:tags r:id="rId3"/>
            </p:custDataLst>
          </p:nvPr>
        </p:nvSpPr>
        <p:spPr>
          <a:xfrm>
            <a:off x="695960" y="1245235"/>
            <a:ext cx="5088890"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800"/>
              </a:spcBef>
              <a:spcAft>
                <a:spcPts val="0"/>
              </a:spcAft>
            </a:pPr>
            <a:r>
              <a:rPr>
                <a:sym typeface="+mn-ea"/>
              </a:rPr>
              <a:t>单击此处编辑母版文本样式</a:t>
            </a:r>
            <a:endParaRPr>
              <a:sym typeface="+mn-ea"/>
            </a:endParaRPr>
          </a:p>
          <a:p>
            <a:pPr lvl="1">
              <a:spcBef>
                <a:spcPts val="1800"/>
              </a:spcBef>
              <a:spcAft>
                <a:spcPts val="0"/>
              </a:spcAft>
            </a:pPr>
            <a:r>
              <a:rPr>
                <a:sym typeface="+mn-ea"/>
              </a:rPr>
              <a:t>第二级</a:t>
            </a:r>
            <a:endParaRPr>
              <a:sym typeface="+mn-ea"/>
            </a:endParaRPr>
          </a:p>
          <a:p>
            <a:pPr lvl="2">
              <a:spcBef>
                <a:spcPts val="1800"/>
              </a:spcBef>
              <a:spcAft>
                <a:spcPts val="0"/>
              </a:spcAft>
            </a:pPr>
            <a:r>
              <a:rPr>
                <a:sym typeface="+mn-ea"/>
              </a:rPr>
              <a:t>第三级</a:t>
            </a:r>
            <a:endParaRPr>
              <a:sym typeface="+mn-ea"/>
            </a:endParaRPr>
          </a:p>
          <a:p>
            <a:pPr lvl="3">
              <a:spcBef>
                <a:spcPts val="1800"/>
              </a:spcBef>
              <a:spcAft>
                <a:spcPts val="0"/>
              </a:spcAft>
            </a:pPr>
            <a:r>
              <a:rPr>
                <a:sym typeface="+mn-ea"/>
              </a:rPr>
              <a:t>第四级</a:t>
            </a:r>
            <a:endParaRPr>
              <a:sym typeface="+mn-ea"/>
            </a:endParaRPr>
          </a:p>
          <a:p>
            <a:pPr lvl="4">
              <a:spcBef>
                <a:spcPts val="1800"/>
              </a:spcBef>
              <a:spcAft>
                <a:spcPts val="0"/>
              </a:spcAft>
            </a:pPr>
            <a:r>
              <a:rPr>
                <a:sym typeface="+mn-ea"/>
              </a:rPr>
              <a:t>第五级</a:t>
            </a:r>
            <a:endParaRPr>
              <a:sym typeface="+mn-ea"/>
            </a:endParaRPr>
          </a:p>
        </p:txBody>
      </p:sp>
      <p:sp>
        <p:nvSpPr>
          <p:cNvPr id="14" name="任意多边形 13"/>
          <p:cNvSpPr/>
          <p:nvPr userDrawn="1">
            <p:custDataLst>
              <p:tags r:id="rId4"/>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标题"/>
          <p:cNvSpPr>
            <a:spLocks noGrp="1"/>
          </p:cNvSpPr>
          <p:nvPr>
            <p:ph type="title" idx="1"/>
            <p:custDataLst>
              <p:tags r:id="rId5"/>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mj-lt"/>
                <a:ea typeface="+mj-lt"/>
                <a:cs typeface="MiSans Normal" panose="00000500000000000000" charset="-122"/>
              </a:defRPr>
            </a:lvl1pPr>
          </a:lstStyle>
          <a:p>
            <a:pPr lvl="0"/>
            <a:r>
              <a:rPr>
                <a:sym typeface="+mn-ea"/>
              </a:rPr>
              <a:t>单击此处编辑母版标题样式</a:t>
            </a:r>
            <a:endParaRPr>
              <a:sym typeface="+mn-ea"/>
            </a:endParaRPr>
          </a:p>
        </p:txBody>
      </p:sp>
      <p:sp>
        <p:nvSpPr>
          <p:cNvPr id="5" name="日期占位符 4"/>
          <p:cNvSpPr>
            <a:spLocks noGrp="1"/>
          </p:cNvSpPr>
          <p:nvPr>
            <p:ph type="dt" sz="half" idx="10"/>
            <p:custDataLst>
              <p:tags r:id="rId6"/>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8"/>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2"/>
            </p:custDataLst>
          </p:nvPr>
        </p:nvSpPr>
        <p:spPr>
          <a:xfrm>
            <a:off x="6235065" y="1671955"/>
            <a:ext cx="5260975"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标题"/>
          <p:cNvSpPr txBox="1">
            <a:spLocks noGrp="1"/>
          </p:cNvSpPr>
          <p:nvPr>
            <p:ph type="title" idx="5"/>
            <p:custDataLst>
              <p:tags r:id="rId3"/>
            </p:custDataLst>
          </p:nvPr>
        </p:nvSpPr>
        <p:spPr>
          <a:xfrm>
            <a:off x="6235065" y="1247140"/>
            <a:ext cx="5260975"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13" name="正文"/>
          <p:cNvSpPr txBox="1">
            <a:spLocks noGrp="1"/>
          </p:cNvSpPr>
          <p:nvPr>
            <p:ph idx="4"/>
            <p:custDataLst>
              <p:tags r:id="rId4"/>
            </p:custDataLst>
          </p:nvPr>
        </p:nvSpPr>
        <p:spPr>
          <a:xfrm>
            <a:off x="695325" y="1671955"/>
            <a:ext cx="5255260"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2" name="标题"/>
          <p:cNvSpPr txBox="1">
            <a:spLocks noGrp="1"/>
          </p:cNvSpPr>
          <p:nvPr>
            <p:ph type="title" idx="3"/>
            <p:custDataLst>
              <p:tags r:id="rId5"/>
            </p:custDataLst>
          </p:nvPr>
        </p:nvSpPr>
        <p:spPr>
          <a:xfrm>
            <a:off x="695325" y="1247140"/>
            <a:ext cx="5255260"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11" name="任意多边形 10"/>
          <p:cNvSpPr/>
          <p:nvPr userDrawn="1">
            <p:custDataLst>
              <p:tags r:id="rId6"/>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10" name="标题"/>
          <p:cNvSpPr txBox="1">
            <a:spLocks noGrp="1"/>
          </p:cNvSpPr>
          <p:nvPr>
            <p:ph type="title" idx="1"/>
            <p:custDataLst>
              <p:tags r:id="rId7"/>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7" name="日期占位符 6"/>
          <p:cNvSpPr>
            <a:spLocks noGrp="1"/>
          </p:cNvSpPr>
          <p:nvPr>
            <p:ph type="dt" sz="half" idx="10"/>
            <p:custDataLst>
              <p:tags r:id="rId8"/>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10"/>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p:custDataLst>
              <p:tags r:id="rId3"/>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4" name="任意多边形 13"/>
          <p:cNvSpPr/>
          <p:nvPr>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2" name="日期占位符 1"/>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dirty="0"/>
          </a:p>
        </p:txBody>
      </p:sp>
      <p:sp>
        <p:nvSpPr>
          <p:cNvPr id="4" name="灯片编号占位符 3"/>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sp>
        <p:nvSpPr>
          <p:cNvPr id="7" name="正文"/>
          <p:cNvSpPr txBox="1">
            <a:spLocks noGrp="1"/>
          </p:cNvSpPr>
          <p:nvPr>
            <p:ph idx="2"/>
            <p:custDataLst>
              <p:tags r:id="rId2"/>
            </p:custDataLst>
          </p:nvPr>
        </p:nvSpPr>
        <p:spPr>
          <a:xfrm>
            <a:off x="695960" y="360045"/>
            <a:ext cx="10801985" cy="581787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 name="日期占位符 3"/>
          <p:cNvSpPr>
            <a:spLocks noGrp="1"/>
          </p:cNvSpPr>
          <p:nvPr>
            <p:ph type="dt" sz="half" idx="10"/>
            <p:custDataLst>
              <p:tags r:id="rId4"/>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sp>
        <p:nvSpPr>
          <p:cNvPr id="8" name="任意多边形 7"/>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副标题"/>
          <p:cNvSpPr txBox="1">
            <a:spLocks noGrp="1"/>
          </p:cNvSpPr>
          <p:nvPr>
            <p:ph type="body" idx="2" hasCustomPrompt="1"/>
            <p:custDataLst>
              <p:tags r:id="rId3"/>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n-lt"/>
                <a:ea typeface="+mn-lt"/>
                <a:cs typeface="MiSans Normal" panose="00000500000000000000" charset="-122"/>
              </a:defRPr>
            </a:lvl1pPr>
          </a:lstStyle>
          <a:p>
            <a:pPr lvl="0" algn="l"/>
            <a:r>
              <a:rPr>
                <a:sym typeface="+mn-ea"/>
              </a:rPr>
              <a:t>单击此处编辑母版副标题样式</a:t>
            </a:r>
            <a:endParaRPr>
              <a:sym typeface="+mn-ea"/>
            </a:endParaRPr>
          </a:p>
        </p:txBody>
      </p:sp>
      <p:sp>
        <p:nvSpPr>
          <p:cNvPr id="6" name="标题"/>
          <p:cNvSpPr txBox="1">
            <a:spLocks noGrp="1"/>
          </p:cNvSpPr>
          <p:nvPr>
            <p:ph type="title" idx="1"/>
            <p:custDataLst>
              <p:tags r:id="rId4"/>
            </p:custDataLst>
          </p:nvPr>
        </p:nvSpPr>
        <p:spPr>
          <a:xfrm>
            <a:off x="695960" y="360000"/>
            <a:ext cx="10800080" cy="720000"/>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3" name="日期占位符 2"/>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bg2"/>
        </a:solidFill>
        <a:effectLst/>
      </p:bgPr>
    </p:bg>
    <p:spTree>
      <p:nvGrpSpPr>
        <p:cNvPr id="1" name=""/>
        <p:cNvGrpSpPr/>
        <p:nvPr/>
      </p:nvGrpSpPr>
      <p:grpSpPr>
        <a:xfrm>
          <a:off x="0" y="0"/>
          <a:ext cx="0" cy="0"/>
          <a:chOff x="0" y="0"/>
          <a:chExt cx="0" cy="0"/>
        </a:xfrm>
      </p:grpSpPr>
      <p:sp>
        <p:nvSpPr>
          <p:cNvPr id="23" name="任意多边形 22"/>
          <p:cNvSpPr/>
          <p:nvPr userDrawn="1">
            <p:custDataLst>
              <p:tags r:id="rId2"/>
            </p:custDataLst>
          </p:nvPr>
        </p:nvSpPr>
        <p:spPr>
          <a:xfrm>
            <a:off x="-14605" y="-1"/>
            <a:ext cx="6006465" cy="6858001"/>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24" name="任意多边形 23"/>
          <p:cNvSpPr/>
          <p:nvPr userDrawn="1">
            <p:custDataLst>
              <p:tags r:id="rId3"/>
            </p:custDataLst>
          </p:nvPr>
        </p:nvSpPr>
        <p:spPr>
          <a:xfrm rot="16200000">
            <a:off x="-1383664" y="1369058"/>
            <a:ext cx="6858000"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6" name="任意多边形 25"/>
          <p:cNvSpPr/>
          <p:nvPr userDrawn="1">
            <p:custDataLst>
              <p:tags r:id="rId4"/>
            </p:custDataLst>
          </p:nvPr>
        </p:nvSpPr>
        <p:spPr>
          <a:xfrm rot="16200000">
            <a:off x="-1336642" y="2318743"/>
            <a:ext cx="4864351" cy="222027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30" name="圆角矩形 29"/>
          <p:cNvSpPr/>
          <p:nvPr userDrawn="1">
            <p:custDataLst>
              <p:tags r:id="rId5"/>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32" name="直接连接符 31"/>
          <p:cNvCxnSpPr/>
          <p:nvPr userDrawn="1">
            <p:custDataLst>
              <p:tags r:id="rId6"/>
            </p:custDataLst>
          </p:nvPr>
        </p:nvCxnSpPr>
        <p:spPr>
          <a:xfrm>
            <a:off x="11197590" y="298132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custDataLst>
              <p:tags r:id="rId7"/>
            </p:custDataLst>
          </p:nvPr>
        </p:nvCxnSpPr>
        <p:spPr>
          <a:xfrm>
            <a:off x="11305540" y="191262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8"/>
            </p:custDataLst>
          </p:nvPr>
        </p:nvCxnSpPr>
        <p:spPr>
          <a:xfrm>
            <a:off x="11305540" y="345503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7" name="椭圆 36"/>
          <p:cNvSpPr/>
          <p:nvPr userDrawn="1">
            <p:custDataLst>
              <p:tags r:id="rId9"/>
            </p:custDataLst>
          </p:nvPr>
        </p:nvSpPr>
        <p:spPr>
          <a:xfrm>
            <a:off x="10016490" y="4434205"/>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38" name="椭圆 37"/>
          <p:cNvSpPr/>
          <p:nvPr userDrawn="1">
            <p:custDataLst>
              <p:tags r:id="rId10"/>
            </p:custDataLst>
          </p:nvPr>
        </p:nvSpPr>
        <p:spPr>
          <a:xfrm>
            <a:off x="10123170" y="4540885"/>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ctr"/>
            <a:endParaRPr lang="zh-CN" altLang="en-US">
              <a:cs typeface="MiSans Normal" panose="00000500000000000000" charset="-122"/>
            </a:endParaRPr>
          </a:p>
        </p:txBody>
      </p:sp>
      <p:sp>
        <p:nvSpPr>
          <p:cNvPr id="39" name="向下箭头"/>
          <p:cNvSpPr/>
          <p:nvPr userDrawn="1">
            <p:custDataLst>
              <p:tags r:id="rId11"/>
            </p:custDataLst>
          </p:nvPr>
        </p:nvSpPr>
        <p:spPr>
          <a:xfrm>
            <a:off x="10227310" y="4633595"/>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4" name="任意多边形 43"/>
          <p:cNvSpPr/>
          <p:nvPr userDrawn="1">
            <p:custDataLst>
              <p:tags r:id="rId12"/>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3"/>
            </p:custDataLst>
          </p:nvPr>
        </p:nvSpPr>
        <p:spPr>
          <a:xfrm>
            <a:off x="2418715" y="1901190"/>
            <a:ext cx="8250555" cy="170561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en-US" altLang="zh-CN" sz="7200" b="0" i="0" u="none" strike="noStrike" kern="1200" cap="none" spc="0" normalizeH="0" baseline="0" noProof="1">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a:sym typeface="+mn-ea"/>
              </a:rPr>
              <a:t>单击此处编辑标题</a:t>
            </a:r>
            <a:endParaRPr>
              <a:sym typeface="+mn-ea"/>
            </a:endParaRPr>
          </a:p>
        </p:txBody>
      </p:sp>
      <p:sp>
        <p:nvSpPr>
          <p:cNvPr id="4" name="日期占位符 3"/>
          <p:cNvSpPr>
            <a:spLocks noGrp="1"/>
          </p:cNvSpPr>
          <p:nvPr>
            <p:ph type="dt" sz="half" idx="10"/>
            <p:custDataLst>
              <p:tags r:id="rId1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8" name="署名占位符 10"/>
          <p:cNvSpPr>
            <a:spLocks noGrp="1"/>
          </p:cNvSpPr>
          <p:nvPr>
            <p:ph type="body" sz="quarter" idx="17" hasCustomPrompt="1"/>
            <p:custDataLst>
              <p:tags r:id="rId17"/>
            </p:custDataLst>
          </p:nvPr>
        </p:nvSpPr>
        <p:spPr>
          <a:xfrm>
            <a:off x="2418715" y="4375145"/>
            <a:ext cx="7444103"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多边形 6"/>
          <p:cNvSpPr/>
          <p:nvPr userDrawn="1">
            <p:custDataLst>
              <p:tags r:id="rId1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9" name="日期占位符 8"/>
          <p:cNvSpPr>
            <a:spLocks noGrp="1"/>
          </p:cNvSpPr>
          <p:nvPr>
            <p:ph type="dt" sz="half" idx="10"/>
            <p:custDataLst>
              <p:tags r:id="rId13"/>
            </p:custDataLst>
          </p:nvPr>
        </p:nvSpPr>
        <p:spPr>
          <a:xfrm>
            <a:off x="695960" y="6356350"/>
            <a:ext cx="2743200" cy="365125"/>
          </a:xfrm>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1"/>
            <p:custDataLst>
              <p:tags r:id="rId14"/>
            </p:custDataLst>
          </p:nvPr>
        </p:nvSpPr>
        <p:spPr>
          <a:xfrm>
            <a:off x="4038600" y="6356350"/>
            <a:ext cx="4114800" cy="365125"/>
          </a:xfrm>
        </p:spPr>
        <p:txBody>
          <a:bodyPr/>
          <a:lstStyle/>
          <a:p>
            <a:endParaRPr lang="zh-CN" altLang="en-US" dirty="0"/>
          </a:p>
        </p:txBody>
      </p:sp>
      <p:sp>
        <p:nvSpPr>
          <p:cNvPr id="11" name="灯片编号占位符 10"/>
          <p:cNvSpPr>
            <a:spLocks noGrp="1"/>
          </p:cNvSpPr>
          <p:nvPr>
            <p:ph type="sldNum" sz="quarter" idx="12"/>
            <p:custDataLst>
              <p:tags r:id="rId15"/>
            </p:custDataLst>
          </p:nvPr>
        </p:nvSpPr>
        <p:spPr>
          <a:xfrm>
            <a:off x="8753983" y="6356350"/>
            <a:ext cx="2743200" cy="365125"/>
          </a:xfrm>
        </p:spPr>
        <p:txBody>
          <a:bodyPr/>
          <a:lstStyle/>
          <a:p>
            <a:fld id="{49AE70B2-8BF9-45C0-BB95-33D1B9D3A854}" type="slidenum">
              <a:rPr lang="zh-CN" altLang="en-US" smtClean="0"/>
            </a:fld>
            <a:endParaRPr lang="zh-CN" altLang="en-US" dirty="0"/>
          </a:p>
        </p:txBody>
      </p:sp>
      <p:sp>
        <p:nvSpPr>
          <p:cNvPr id="2" name="标题占位符 1"/>
          <p:cNvSpPr>
            <a:spLocks noGrp="1"/>
          </p:cNvSpPr>
          <p:nvPr>
            <p:ph type="title"/>
            <p:custDataLst>
              <p:tags r:id="rId16"/>
            </p:custDataLst>
          </p:nvPr>
        </p:nvSpPr>
        <p:spPr>
          <a:xfrm>
            <a:off x="695960" y="360000"/>
            <a:ext cx="10800000" cy="720000"/>
          </a:xfrm>
          <a:prstGeom prst="rect">
            <a:avLst/>
          </a:prstGeom>
          <a:noFill/>
        </p:spPr>
        <p:txBody>
          <a:bodyPr vert="horz" wrap="square" lIns="0" tIns="0" rIns="0" bIns="0" rtlCol="0" anchor="b" anchorCtr="0">
            <a:normAutofit/>
          </a:bodyPr>
          <a:lstStyle/>
          <a:p>
            <a:pPr marL="0" marR="0" lvl="0">
              <a:buClrTx/>
              <a:buSzTx/>
              <a:buFontTx/>
            </a:pPr>
            <a:r>
              <a:rPr lang="zh-CN" altLang="en-US" dirty="0"/>
              <a:t>单击此处编辑母版标题样式</a:t>
            </a:r>
            <a:endParaRPr lang="zh-CN" altLang="en-US" dirty="0"/>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KSO_TEMPLATE" hidden="1"/>
          <p:cNvSpPr/>
          <p:nvPr userDrawn="1">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iSans Normal" panose="000005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2.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3" Type="http://schemas.openxmlformats.org/officeDocument/2006/relationships/notesSlide" Target="../notesSlides/notesSlide2.xml"/><Relationship Id="rId12" Type="http://schemas.openxmlformats.org/officeDocument/2006/relationships/slideLayout" Target="../slideLayouts/slideLayout14.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tags" Target="../tags/tag10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8.xml"/><Relationship Id="rId3" Type="http://schemas.openxmlformats.org/officeDocument/2006/relationships/tags" Target="../tags/tag116.xml"/><Relationship Id="rId2" Type="http://schemas.openxmlformats.org/officeDocument/2006/relationships/image" Target="../media/image1.png"/><Relationship Id="rId1" Type="http://schemas.openxmlformats.org/officeDocument/2006/relationships/tags" Target="../tags/tag115.xml"/></Relationships>
</file>

<file path=ppt/slides/_rels/slide5.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image" Target="../media/image2.jpeg"/><Relationship Id="rId2" Type="http://schemas.openxmlformats.org/officeDocument/2006/relationships/tags" Target="../tags/tag118.xml"/><Relationship Id="rId12" Type="http://schemas.openxmlformats.org/officeDocument/2006/relationships/notesSlide" Target="../notesSlides/notesSlide4.xml"/><Relationship Id="rId11" Type="http://schemas.openxmlformats.org/officeDocument/2006/relationships/slideLayout" Target="../slideLayouts/slideLayout18.xml"/><Relationship Id="rId10" Type="http://schemas.openxmlformats.org/officeDocument/2006/relationships/tags" Target="../tags/tag125.xml"/><Relationship Id="rId1" Type="http://schemas.openxmlformats.org/officeDocument/2006/relationships/tags" Target="../tags/tag11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image" Target="../media/image3.jpeg"/><Relationship Id="rId1" Type="http://schemas.openxmlformats.org/officeDocument/2006/relationships/tags" Target="../tags/tag129.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3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13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39.xml"/><Relationship Id="rId1" Type="http://schemas.openxmlformats.org/officeDocument/2006/relationships/tags" Target="../tags/tag138.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41.xml"/><Relationship Id="rId2" Type="http://schemas.openxmlformats.org/officeDocument/2006/relationships/image" Target="../media/image6.png"/><Relationship Id="rId1" Type="http://schemas.openxmlformats.org/officeDocument/2006/relationships/tags" Target="../tags/tag140.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43.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tags" Target="../tags/tag142.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45.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44.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8.xml"/><Relationship Id="rId4" Type="http://schemas.openxmlformats.org/officeDocument/2006/relationships/tags" Target="../tags/tag14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146.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49.xml"/><Relationship Id="rId2" Type="http://schemas.openxmlformats.org/officeDocument/2006/relationships/image" Target="../media/image13.png"/><Relationship Id="rId1" Type="http://schemas.openxmlformats.org/officeDocument/2006/relationships/tags" Target="../tags/tag148.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image" Target="../media/image15.png"/><Relationship Id="rId10" Type="http://schemas.openxmlformats.org/officeDocument/2006/relationships/notesSlide" Target="../notesSlides/notesSlide6.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8.xml"/><Relationship Id="rId2" Type="http://schemas.openxmlformats.org/officeDocument/2006/relationships/tags" Target="../tags/tag157.xml"/><Relationship Id="rId1" Type="http://schemas.openxmlformats.org/officeDocument/2006/relationships/tags" Target="../tags/tag156.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67.xml"/><Relationship Id="rId2" Type="http://schemas.openxmlformats.org/officeDocument/2006/relationships/image" Target="../media/image16.png"/><Relationship Id="rId1" Type="http://schemas.openxmlformats.org/officeDocument/2006/relationships/tags" Target="../tags/tag16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169.xml"/><Relationship Id="rId1" Type="http://schemas.openxmlformats.org/officeDocument/2006/relationships/tags" Target="../tags/tag16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标题 7"/>
          <p:cNvSpPr>
            <a:spLocks noGrp="1"/>
          </p:cNvSpPr>
          <p:nvPr>
            <p:ph type="title" idx="1"/>
            <p:custDataLst>
              <p:tags r:id="rId1"/>
            </p:custDataLst>
          </p:nvPr>
        </p:nvSpPr>
        <p:spPr>
          <a:xfrm>
            <a:off x="2273300" y="2106930"/>
            <a:ext cx="8413750" cy="1709420"/>
          </a:xfrm>
        </p:spPr>
        <p:txBody>
          <a:bodyPr>
            <a:normAutofit fontScale="90000"/>
          </a:bodyPr>
          <a:lstStyle/>
          <a:p>
            <a:r>
              <a:rPr lang="zh-CN" altLang="en-US" sz="6700" dirty="0"/>
              <a:t>Title: Portfolio</a:t>
            </a:r>
            <a:r>
              <a:rPr lang="en-US" altLang="zh-CN" sz="6700" dirty="0"/>
              <a:t> Optimization,</a:t>
            </a:r>
            <a:r>
              <a:rPr lang="zh-CN" altLang="en-US" sz="6700" dirty="0"/>
              <a:t> Risk Analysis and Backtesting</a:t>
            </a:r>
            <a:r>
              <a:rPr lang="zh-CN" altLang="en-US" dirty="0"/>
              <a:t> </a:t>
            </a:r>
            <a:endParaRPr lang="en-US" altLang="zh-CN" dirty="0"/>
          </a:p>
        </p:txBody>
      </p:sp>
      <p:sp>
        <p:nvSpPr>
          <p:cNvPr id="5" name="文本占位符 4"/>
          <p:cNvSpPr>
            <a:spLocks noGrp="1"/>
          </p:cNvSpPr>
          <p:nvPr>
            <p:ph type="body" sz="quarter" idx="17"/>
            <p:custDataLst>
              <p:tags r:id="rId2"/>
            </p:custDataLst>
          </p:nvPr>
        </p:nvSpPr>
        <p:spPr>
          <a:xfrm>
            <a:off x="2273299" y="4275976"/>
            <a:ext cx="7589519" cy="656600"/>
          </a:xfrm>
        </p:spPr>
        <p:txBody>
          <a:bodyPr/>
          <a:lstStyle/>
          <a:p>
            <a:r>
              <a:rPr lang="en-US" altLang="zh-CN" dirty="0"/>
              <a:t>Presenter</a:t>
            </a:r>
            <a:r>
              <a:rPr lang="zh-CN" altLang="en-US" dirty="0"/>
              <a:t>: </a:t>
            </a:r>
            <a:r>
              <a:rPr lang="en-US" altLang="zh-CN" dirty="0"/>
              <a:t> SUN Y</a:t>
            </a:r>
            <a:r>
              <a:rPr lang="en-US" altLang="zh-CN" dirty="0"/>
              <a:t>uan</a:t>
            </a:r>
            <a:endParaRPr lang="en-US" altLang="zh-CN" dirty="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custDataLst>
              <p:tags r:id="rId1"/>
            </p:custDataLst>
          </p:nvPr>
        </p:nvSpPr>
        <p:spPr>
          <a:xfrm>
            <a:off x="4253230" y="4330065"/>
            <a:ext cx="5067935" cy="927735"/>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lstStyle/>
          <a:p>
            <a:pPr algn="ctr"/>
            <a:endParaRPr lang="zh-CN" altLang="en-US">
              <a:cs typeface="MiSans Normal" panose="00000500000000000000" charset="-122"/>
            </a:endParaRPr>
          </a:p>
        </p:txBody>
      </p:sp>
      <p:sp>
        <p:nvSpPr>
          <p:cNvPr id="34" name="圆角矩形 33"/>
          <p:cNvSpPr/>
          <p:nvPr>
            <p:custDataLst>
              <p:tags r:id="rId2"/>
            </p:custDataLst>
          </p:nvPr>
        </p:nvSpPr>
        <p:spPr>
          <a:xfrm>
            <a:off x="4328795" y="3070225"/>
            <a:ext cx="5067935" cy="927735"/>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lstStyle/>
          <a:p>
            <a:pPr algn="ctr"/>
            <a:endParaRPr lang="zh-CN" altLang="en-US">
              <a:cs typeface="MiSans Normal" panose="00000500000000000000" charset="-122"/>
            </a:endParaRPr>
          </a:p>
        </p:txBody>
      </p:sp>
      <p:sp>
        <p:nvSpPr>
          <p:cNvPr id="8" name="圆角矩形 7"/>
          <p:cNvSpPr/>
          <p:nvPr>
            <p:custDataLst>
              <p:tags r:id="rId3"/>
            </p:custDataLst>
          </p:nvPr>
        </p:nvSpPr>
        <p:spPr>
          <a:xfrm>
            <a:off x="4253230" y="1809750"/>
            <a:ext cx="5067935" cy="927735"/>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lstStyle/>
          <a:p>
            <a:pPr algn="ctr"/>
            <a:endParaRPr lang="zh-CN" altLang="en-US">
              <a:cs typeface="MiSans Normal" panose="00000500000000000000" charset="-122"/>
            </a:endParaRPr>
          </a:p>
        </p:txBody>
      </p:sp>
      <p:sp>
        <p:nvSpPr>
          <p:cNvPr id="7" name="标题 6"/>
          <p:cNvSpPr>
            <a:spLocks noGrp="1"/>
          </p:cNvSpPr>
          <p:nvPr>
            <p:ph type="title" idx="1"/>
            <p:custDataLst>
              <p:tags r:id="rId4"/>
            </p:custDataLst>
          </p:nvPr>
        </p:nvSpPr>
        <p:spPr>
          <a:xfrm rot="16200000">
            <a:off x="1166495" y="1793240"/>
            <a:ext cx="1375410" cy="3604895"/>
          </a:xfrm>
        </p:spPr>
        <p:txBody>
          <a:bodyPr>
            <a:normAutofit fontScale="90000"/>
          </a:bodyPr>
          <a:lstStyle/>
          <a:p>
            <a:r>
              <a:rPr lang="en-US" altLang="zh-CN" dirty="0"/>
              <a:t>Table of contents</a:t>
            </a:r>
            <a:endParaRPr lang="en-US" altLang="zh-CN" dirty="0"/>
          </a:p>
        </p:txBody>
      </p:sp>
      <p:sp>
        <p:nvSpPr>
          <p:cNvPr id="6" name="序号"/>
          <p:cNvSpPr txBox="1"/>
          <p:nvPr>
            <p:custDataLst>
              <p:tags r:id="rId5"/>
            </p:custDataLst>
          </p:nvPr>
        </p:nvSpPr>
        <p:spPr>
          <a:xfrm>
            <a:off x="4328795" y="1814195"/>
            <a:ext cx="920115" cy="923290"/>
          </a:xfrm>
          <a:prstGeom prst="ellipse">
            <a:avLst/>
          </a:prstGeom>
          <a:solidFill>
            <a:schemeClr val="accent1"/>
          </a:solidFill>
        </p:spPr>
        <p:txBody>
          <a:bodyPr wrap="none" lIns="0" tIns="0" rIns="0" bIns="0" rtlCol="0" anchor="ctr" anchorCtr="0">
            <a:normAutofit/>
          </a:bodyPr>
          <a:lstStyle/>
          <a:p>
            <a:pPr algn="ctr"/>
            <a:r>
              <a:rPr lang="en-US" altLang="zh-CN" sz="2400">
                <a:solidFill>
                  <a:schemeClr val="lt1"/>
                </a:solidFill>
                <a:latin typeface="+mj-ea"/>
                <a:ea typeface="+mj-ea"/>
                <a:cs typeface="MiSans Normal" panose="00000500000000000000" charset="-122"/>
              </a:rPr>
              <a:t>01</a:t>
            </a:r>
            <a:endParaRPr lang="en-US" altLang="zh-CN" sz="2400">
              <a:solidFill>
                <a:schemeClr val="lt1"/>
              </a:solidFill>
              <a:latin typeface="+mj-ea"/>
              <a:ea typeface="+mj-ea"/>
              <a:cs typeface="MiSans Normal" panose="00000500000000000000" charset="-122"/>
            </a:endParaRPr>
          </a:p>
        </p:txBody>
      </p:sp>
      <p:sp>
        <p:nvSpPr>
          <p:cNvPr id="13" name="序号"/>
          <p:cNvSpPr txBox="1"/>
          <p:nvPr>
            <p:custDataLst>
              <p:tags r:id="rId6"/>
            </p:custDataLst>
          </p:nvPr>
        </p:nvSpPr>
        <p:spPr>
          <a:xfrm>
            <a:off x="4328795" y="3072130"/>
            <a:ext cx="920115" cy="923290"/>
          </a:xfrm>
          <a:prstGeom prst="ellipse">
            <a:avLst/>
          </a:prstGeom>
          <a:solidFill>
            <a:schemeClr val="accent2"/>
          </a:solidFill>
        </p:spPr>
        <p:txBody>
          <a:bodyPr wrap="none" lIns="0" tIns="0" rIns="0" bIns="0" rtlCol="0" anchor="ctr" anchorCtr="0">
            <a:normAutofit/>
          </a:bodyPr>
          <a:lstStyle/>
          <a:p>
            <a:pPr algn="ctr"/>
            <a:r>
              <a:rPr lang="en-US" altLang="zh-CN" sz="2400">
                <a:solidFill>
                  <a:schemeClr val="lt1"/>
                </a:solidFill>
                <a:latin typeface="+mj-ea"/>
                <a:ea typeface="+mj-ea"/>
                <a:cs typeface="MiSans Normal" panose="00000500000000000000" charset="-122"/>
              </a:rPr>
              <a:t>02</a:t>
            </a:r>
            <a:endParaRPr lang="en-US" altLang="zh-CN" sz="2400">
              <a:solidFill>
                <a:schemeClr val="lt1"/>
              </a:solidFill>
              <a:latin typeface="+mj-ea"/>
              <a:ea typeface="+mj-ea"/>
              <a:cs typeface="MiSans Normal" panose="00000500000000000000" charset="-122"/>
            </a:endParaRPr>
          </a:p>
        </p:txBody>
      </p:sp>
      <p:sp>
        <p:nvSpPr>
          <p:cNvPr id="14" name="标题"/>
          <p:cNvSpPr txBox="1"/>
          <p:nvPr>
            <p:custDataLst>
              <p:tags r:id="rId7"/>
            </p:custDataLst>
          </p:nvPr>
        </p:nvSpPr>
        <p:spPr>
          <a:xfrm>
            <a:off x="5248910" y="1817370"/>
            <a:ext cx="3827145" cy="927735"/>
          </a:xfrm>
          <a:prstGeom prst="rect">
            <a:avLst/>
          </a:prstGeom>
          <a:noFill/>
        </p:spPr>
        <p:txBody>
          <a:bodyPr wrap="square" lIns="91440" tIns="0" rIns="91440" bIns="0" rtlCol="0" anchor="ctr" anchorCtr="0">
            <a:normAutofit fontScale="90000" lnSpcReduction="20000"/>
          </a:bodyPr>
          <a:lstStyle/>
          <a:p>
            <a:pPr lvl="0" algn="l">
              <a:buClrTx/>
              <a:buSzTx/>
              <a:buFontTx/>
            </a:pPr>
            <a:r>
              <a:rPr lang="en-US" altLang="zh-CN" sz="2400" spc="200">
                <a:solidFill>
                  <a:schemeClr val="tx1">
                    <a:lumMod val="85000"/>
                    <a:lumOff val="15000"/>
                  </a:schemeClr>
                </a:solidFill>
                <a:uFillTx/>
                <a:latin typeface="+mj-ea"/>
                <a:ea typeface="+mj-ea"/>
                <a:cs typeface="MiSans Normal" panose="00000500000000000000" charset="-122"/>
                <a:sym typeface="+mn-ea"/>
              </a:rPr>
              <a:t>Part 1: Portfolio Risk Analysis (Latest Long-Term Portfolio)</a:t>
            </a:r>
            <a:endParaRPr lang="en-US" altLang="zh-CN" sz="2400" spc="200">
              <a:solidFill>
                <a:schemeClr val="tx1">
                  <a:lumMod val="85000"/>
                  <a:lumOff val="15000"/>
                </a:schemeClr>
              </a:solidFill>
              <a:uFillTx/>
              <a:latin typeface="+mj-ea"/>
              <a:ea typeface="+mj-ea"/>
              <a:cs typeface="MiSans Normal" panose="00000500000000000000" charset="-122"/>
              <a:sym typeface="+mn-ea"/>
            </a:endParaRPr>
          </a:p>
        </p:txBody>
      </p:sp>
      <p:sp>
        <p:nvSpPr>
          <p:cNvPr id="35" name="序号"/>
          <p:cNvSpPr txBox="1"/>
          <p:nvPr>
            <p:custDataLst>
              <p:tags r:id="rId8"/>
            </p:custDataLst>
          </p:nvPr>
        </p:nvSpPr>
        <p:spPr>
          <a:xfrm>
            <a:off x="4328795" y="4322445"/>
            <a:ext cx="920115" cy="923290"/>
          </a:xfrm>
          <a:prstGeom prst="ellipse">
            <a:avLst/>
          </a:prstGeom>
          <a:solidFill>
            <a:schemeClr val="accent1"/>
          </a:solidFill>
        </p:spPr>
        <p:txBody>
          <a:bodyPr wrap="none" lIns="0" tIns="0" rIns="0" bIns="0" rtlCol="0" anchor="ctr" anchorCtr="0">
            <a:normAutofit/>
          </a:bodyPr>
          <a:lstStyle/>
          <a:p>
            <a:pPr algn="ctr"/>
            <a:r>
              <a:rPr lang="en-US" altLang="zh-CN" sz="2400">
                <a:solidFill>
                  <a:schemeClr val="lt1"/>
                </a:solidFill>
                <a:latin typeface="+mj-ea"/>
                <a:ea typeface="+mj-ea"/>
                <a:cs typeface="MiSans Normal" panose="00000500000000000000" charset="-122"/>
              </a:rPr>
              <a:t>03</a:t>
            </a:r>
            <a:endParaRPr lang="en-US" altLang="zh-CN" sz="2400">
              <a:solidFill>
                <a:schemeClr val="lt1"/>
              </a:solidFill>
              <a:latin typeface="+mj-ea"/>
              <a:ea typeface="+mj-ea"/>
              <a:cs typeface="MiSans Normal" panose="00000500000000000000" charset="-122"/>
            </a:endParaRPr>
          </a:p>
        </p:txBody>
      </p:sp>
      <p:sp>
        <p:nvSpPr>
          <p:cNvPr id="36" name="标题"/>
          <p:cNvSpPr txBox="1"/>
          <p:nvPr>
            <p:custDataLst>
              <p:tags r:id="rId9"/>
            </p:custDataLst>
          </p:nvPr>
        </p:nvSpPr>
        <p:spPr>
          <a:xfrm>
            <a:off x="5248910" y="3070860"/>
            <a:ext cx="3827145" cy="925830"/>
          </a:xfrm>
          <a:prstGeom prst="rect">
            <a:avLst/>
          </a:prstGeom>
          <a:noFill/>
        </p:spPr>
        <p:txBody>
          <a:bodyPr wrap="square" lIns="91440" tIns="0" rIns="91440" bIns="0" rtlCol="0" anchor="ctr" anchorCtr="0">
            <a:normAutofit fontScale="90000" lnSpcReduction="20000"/>
          </a:bodyPr>
          <a:lstStyle/>
          <a:p>
            <a:pPr lvl="0" algn="l">
              <a:buClrTx/>
              <a:buSzTx/>
              <a:buFontTx/>
            </a:pPr>
            <a:r>
              <a:rPr lang="zh-CN" altLang="en-US" sz="2400" spc="200">
                <a:solidFill>
                  <a:schemeClr val="tx1">
                    <a:lumMod val="85000"/>
                    <a:lumOff val="15000"/>
                  </a:schemeClr>
                </a:solidFill>
                <a:uFillTx/>
                <a:latin typeface="+mj-ea"/>
                <a:ea typeface="+mj-ea"/>
                <a:cs typeface="MiSans Normal" panose="00000500000000000000" charset="-122"/>
                <a:sym typeface="+mn-ea"/>
              </a:rPr>
              <a:t>Part 2: Portfolio Construction Backtesting</a:t>
            </a:r>
            <a:endParaRPr lang="zh-CN" altLang="en-US" sz="2400" spc="200">
              <a:solidFill>
                <a:schemeClr val="tx1">
                  <a:lumMod val="85000"/>
                  <a:lumOff val="15000"/>
                </a:schemeClr>
              </a:solidFill>
              <a:uFillTx/>
              <a:latin typeface="+mj-ea"/>
              <a:ea typeface="+mj-ea"/>
              <a:cs typeface="MiSans Normal" panose="00000500000000000000" charset="-122"/>
              <a:sym typeface="+mn-ea"/>
            </a:endParaRPr>
          </a:p>
        </p:txBody>
      </p:sp>
      <p:sp>
        <p:nvSpPr>
          <p:cNvPr id="40" name="标题"/>
          <p:cNvSpPr txBox="1"/>
          <p:nvPr>
            <p:custDataLst>
              <p:tags r:id="rId10"/>
            </p:custDataLst>
          </p:nvPr>
        </p:nvSpPr>
        <p:spPr>
          <a:xfrm>
            <a:off x="5248910" y="4326890"/>
            <a:ext cx="3827145" cy="916940"/>
          </a:xfrm>
          <a:prstGeom prst="rect">
            <a:avLst/>
          </a:prstGeom>
          <a:noFill/>
        </p:spPr>
        <p:txBody>
          <a:bodyPr wrap="square" lIns="91440" tIns="0" rIns="91440" bIns="0" rtlCol="0" anchor="ctr" anchorCtr="0">
            <a:normAutofit fontScale="90000"/>
          </a:bodyPr>
          <a:lstStyle/>
          <a:p>
            <a:pPr lvl="0" algn="l">
              <a:buClrTx/>
              <a:buSzTx/>
              <a:buFontTx/>
            </a:pPr>
            <a:r>
              <a:rPr lang="zh-CN" altLang="en-US" sz="2400" spc="200">
                <a:solidFill>
                  <a:schemeClr val="tx1">
                    <a:lumMod val="85000"/>
                    <a:lumOff val="15000"/>
                  </a:schemeClr>
                </a:solidFill>
                <a:uFillTx/>
                <a:latin typeface="+mj-ea"/>
                <a:ea typeface="+mj-ea"/>
                <a:cs typeface="MiSans Normal" panose="00000500000000000000" charset="-122"/>
                <a:sym typeface="+mn-ea"/>
              </a:rPr>
              <a:t>Part 3: Summary and Recommendations</a:t>
            </a:r>
            <a:endParaRPr lang="zh-CN" altLang="en-US" sz="2400" spc="200">
              <a:solidFill>
                <a:schemeClr val="tx1">
                  <a:lumMod val="85000"/>
                  <a:lumOff val="15000"/>
                </a:schemeClr>
              </a:solidFill>
              <a:uFillTx/>
              <a:latin typeface="+mj-ea"/>
              <a:ea typeface="+mj-ea"/>
              <a:cs typeface="MiSans Normal" panose="00000500000000000000" charset="-122"/>
              <a:sym typeface="+mn-ea"/>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idx="2"/>
            <p:custDataLst>
              <p:tags r:id="rId1"/>
            </p:custDataLst>
          </p:nvPr>
        </p:nvSpPr>
        <p:spPr>
          <a:xfrm>
            <a:off x="1828800" y="3004185"/>
            <a:ext cx="2649220" cy="1208405"/>
          </a:xfrm>
        </p:spPr>
        <p:txBody>
          <a:bodyPr/>
          <a:lstStyle/>
          <a:p>
            <a:r>
              <a:rPr lang="zh-CN" altLang="en-US" dirty="0"/>
              <a:t>0</a:t>
            </a:r>
            <a:r>
              <a:rPr dirty="0"/>
              <a:t>1</a:t>
            </a:r>
            <a:endParaRPr dirty="0"/>
          </a:p>
        </p:txBody>
      </p:sp>
      <p:sp>
        <p:nvSpPr>
          <p:cNvPr id="8" name="标题 7"/>
          <p:cNvSpPr>
            <a:spLocks noGrp="1"/>
          </p:cNvSpPr>
          <p:nvPr>
            <p:ph type="title" idx="1"/>
            <p:custDataLst>
              <p:tags r:id="rId2"/>
            </p:custDataLst>
          </p:nvPr>
        </p:nvSpPr>
        <p:spPr>
          <a:xfrm>
            <a:off x="6732905" y="2092325"/>
            <a:ext cx="5005070" cy="1684020"/>
          </a:xfrm>
        </p:spPr>
        <p:txBody>
          <a:bodyPr>
            <a:normAutofit fontScale="90000"/>
          </a:bodyPr>
          <a:lstStyle/>
          <a:p>
            <a:r>
              <a:rPr lang="en-US" altLang="zh-CN">
                <a:sym typeface="+mn-ea"/>
              </a:rPr>
              <a:t>Portfolio Risk Analysis (Latest Long-Term Portfolio)</a:t>
            </a:r>
            <a:endParaRPr lang="zh-CN" altLang="en-US" dirty="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标题 40"/>
          <p:cNvSpPr>
            <a:spLocks noGrp="1"/>
          </p:cNvSpPr>
          <p:nvPr>
            <p:ph type="title"/>
            <p:custDataLst>
              <p:tags r:id="rId1"/>
            </p:custDataLst>
          </p:nvPr>
        </p:nvSpPr>
        <p:spPr>
          <a:xfrm>
            <a:off x="677545" y="292735"/>
            <a:ext cx="11186795" cy="578485"/>
          </a:xfrm>
          <a:noFill/>
        </p:spPr>
        <p:txBody>
          <a:bodyPr wrap="square" lIns="0" tIns="0" rIns="0" bIns="0" rtlCol="0" anchor="b">
            <a:normAutofit/>
          </a:bodyPr>
          <a:lstStyle/>
          <a:p>
            <a:pPr algn="r">
              <a:lnSpc>
                <a:spcPct val="96000"/>
              </a:lnSpc>
            </a:pPr>
            <a:r>
              <a:rPr lang="en-US" altLang="zh-CN" sz="3400" dirty="0">
                <a:cs typeface="+mn-cs"/>
              </a:rPr>
              <a:t>VaR Analysis (Historical vs. Normal Model)</a:t>
            </a:r>
            <a:endParaRPr lang="en-US" altLang="zh-CN" sz="3400" dirty="0">
              <a:cs typeface="+mn-cs"/>
            </a:endParaRPr>
          </a:p>
        </p:txBody>
      </p:sp>
      <p:sp>
        <p:nvSpPr>
          <p:cNvPr id="4" name="文本框 3"/>
          <p:cNvSpPr txBox="1"/>
          <p:nvPr/>
        </p:nvSpPr>
        <p:spPr>
          <a:xfrm>
            <a:off x="770890" y="4504055"/>
            <a:ext cx="9767570" cy="2030095"/>
          </a:xfrm>
          <a:prstGeom prst="rect">
            <a:avLst/>
          </a:prstGeom>
          <a:noFill/>
        </p:spPr>
        <p:txBody>
          <a:bodyPr wrap="square" rtlCol="0">
            <a:spAutoFit/>
          </a:bodyPr>
          <a:p>
            <a:r>
              <a:rPr lang="en-US" altLang="zh-CN"/>
              <a:t>Historical VaR: Captures tail risk using empirical quantiles.</a:t>
            </a:r>
            <a:endParaRPr lang="en-US" altLang="zh-CN"/>
          </a:p>
          <a:p>
            <a:endParaRPr lang="en-US" altLang="zh-CN"/>
          </a:p>
          <a:p>
            <a:r>
              <a:rPr lang="en-US" altLang="zh-CN"/>
              <a:t>Normal VaR: Underestimates tail risk due to Gaussian assumptions</a:t>
            </a:r>
            <a:endParaRPr lang="en-US" altLang="zh-CN"/>
          </a:p>
          <a:p>
            <a:endParaRPr lang="en-US" altLang="zh-CN"/>
          </a:p>
          <a:p>
            <a:r>
              <a:rPr lang="en-US" altLang="zh-CN"/>
              <a:t>Historical VaR: 0.02857664</a:t>
            </a:r>
            <a:endParaRPr lang="en-US" altLang="zh-CN"/>
          </a:p>
          <a:p>
            <a:r>
              <a:rPr lang="en-US" altLang="zh-CN"/>
              <a:t> </a:t>
            </a:r>
            <a:endParaRPr lang="en-US" altLang="zh-CN"/>
          </a:p>
          <a:p>
            <a:r>
              <a:rPr lang="en-US" altLang="zh-CN"/>
              <a:t>Normal VaR: 0.0304454</a:t>
            </a:r>
            <a:endParaRPr lang="en-US" altLang="zh-CN"/>
          </a:p>
        </p:txBody>
      </p:sp>
      <p:pic>
        <p:nvPicPr>
          <p:cNvPr id="2" name="图片 1" descr="VaR合并"/>
          <p:cNvPicPr>
            <a:picLocks noChangeAspect="1"/>
          </p:cNvPicPr>
          <p:nvPr/>
        </p:nvPicPr>
        <p:blipFill>
          <a:blip r:embed="rId2"/>
          <a:stretch>
            <a:fillRect/>
          </a:stretch>
        </p:blipFill>
        <p:spPr>
          <a:xfrm>
            <a:off x="1088390" y="1302385"/>
            <a:ext cx="8554085" cy="2844165"/>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pPr lvl="0"/>
            <a:r>
              <a:rPr lang="zh-CN" altLang="en-US"/>
              <a:t> Factor Model and Risk Forecasting</a:t>
            </a:r>
            <a:endParaRPr lang="zh-CN" altLang="en-US"/>
          </a:p>
        </p:txBody>
      </p:sp>
      <p:pic>
        <p:nvPicPr>
          <p:cNvPr id="8" name="图片 7" descr="/data/temp/7b2d3aed-2033-11f0-8e02-4a679891df00.jpg@base@tag=imgScale&amp;m=1&amp;w=910&amp;h=1289&amp;q=957b2d3aed-2033-11f0-8e02-4a679891df00"/>
          <p:cNvPicPr>
            <a:picLocks noChangeAspect="1"/>
          </p:cNvPicPr>
          <p:nvPr>
            <p:custDataLst>
              <p:tags r:id="rId2"/>
            </p:custDataLst>
          </p:nvPr>
        </p:nvPicPr>
        <p:blipFill>
          <a:blip r:embed="rId3"/>
          <a:srcRect t="2625" b="2918"/>
          <a:stretch>
            <a:fillRect/>
          </a:stretch>
        </p:blipFill>
        <p:spPr>
          <a:xfrm>
            <a:off x="8219004" y="1362905"/>
            <a:ext cx="3277671" cy="4644000"/>
          </a:xfrm>
          <a:prstGeom prst="round1Rect">
            <a:avLst>
              <a:gd name="adj" fmla="val 39814"/>
            </a:avLst>
          </a:prstGeom>
          <a:ln w="9525" cap="flat" cmpd="sng" algn="ctr">
            <a:solidFill>
              <a:schemeClr val="accent1">
                <a:lumMod val="100000"/>
                <a:alpha val="28000"/>
              </a:schemeClr>
            </a:solidFill>
            <a:prstDash val="solid"/>
            <a:round/>
            <a:headEnd type="none" w="med" len="med"/>
            <a:tailEnd type="none" w="med" len="med"/>
          </a:ln>
          <a:effectLst>
            <a:outerShdw blurRad="203200" dist="38100" dir="2700000" algn="tl" rotWithShape="0">
              <a:schemeClr val="accent1">
                <a:alpha val="60000"/>
              </a:schemeClr>
            </a:outerShdw>
          </a:effectLst>
        </p:spPr>
      </p:pic>
      <p:sp>
        <p:nvSpPr>
          <p:cNvPr id="31" name="圆角矩形 30"/>
          <p:cNvSpPr/>
          <p:nvPr>
            <p:custDataLst>
              <p:tags r:id="rId4"/>
            </p:custDataLst>
          </p:nvPr>
        </p:nvSpPr>
        <p:spPr>
          <a:xfrm>
            <a:off x="1000125" y="1668780"/>
            <a:ext cx="6912610" cy="1975485"/>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600">
              <a:sym typeface="+mn-ea"/>
            </a:endParaRPr>
          </a:p>
        </p:txBody>
      </p:sp>
      <p:sp>
        <p:nvSpPr>
          <p:cNvPr id="36" name="圆角矩形 35"/>
          <p:cNvSpPr/>
          <p:nvPr>
            <p:custDataLst>
              <p:tags r:id="rId5"/>
            </p:custDataLst>
          </p:nvPr>
        </p:nvSpPr>
        <p:spPr>
          <a:xfrm>
            <a:off x="634999" y="2263726"/>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000" b="1">
                <a:solidFill>
                  <a:schemeClr val="lt1">
                    <a:lumMod val="100000"/>
                  </a:schemeClr>
                </a:solidFill>
                <a:latin typeface="+mn-ea"/>
                <a:cs typeface="+mn-ea"/>
                <a:sym typeface="+mn-ea"/>
              </a:rPr>
              <a:t>Factor Choice </a:t>
            </a:r>
            <a:r>
              <a:rPr lang="en-US" altLang="zh-CN" sz="2000" b="1">
                <a:solidFill>
                  <a:schemeClr val="lt1">
                    <a:lumMod val="100000"/>
                  </a:schemeClr>
                </a:solidFill>
                <a:latin typeface="+mn-ea"/>
                <a:cs typeface="+mn-ea"/>
                <a:sym typeface="+mn-ea"/>
              </a:rPr>
              <a:t>and Risk</a:t>
            </a:r>
            <a:endParaRPr lang="en-US" altLang="zh-CN" sz="2000" b="1">
              <a:solidFill>
                <a:schemeClr val="lt1">
                  <a:lumMod val="100000"/>
                </a:schemeClr>
              </a:solidFill>
              <a:latin typeface="+mn-ea"/>
              <a:cs typeface="+mn-ea"/>
              <a:sym typeface="+mn-ea"/>
            </a:endParaRPr>
          </a:p>
        </p:txBody>
      </p:sp>
      <p:sp>
        <p:nvSpPr>
          <p:cNvPr id="5" name="矩形 4"/>
          <p:cNvSpPr/>
          <p:nvPr>
            <p:custDataLst>
              <p:tags r:id="rId6"/>
            </p:custDataLst>
          </p:nvPr>
        </p:nvSpPr>
        <p:spPr>
          <a:xfrm>
            <a:off x="2961640" y="2132330"/>
            <a:ext cx="5075555" cy="1296035"/>
          </a:xfrm>
          <a:prstGeom prst="rect">
            <a:avLst/>
          </a:prstGeom>
          <a:noFill/>
        </p:spPr>
        <p:txBody>
          <a:bodyPr wrap="square" lIns="0" tIns="0" rIns="0" bIns="0" rtlCol="0" anchor="ctr" anchorCtr="0">
            <a:noAutofit/>
          </a:bodyPr>
          <a:p>
            <a:pPr algn="just" fontAlgn="b">
              <a:lnSpc>
                <a:spcPct val="150000"/>
              </a:lnSpc>
              <a:spcBef>
                <a:spcPct val="0"/>
              </a:spcBef>
              <a:spcAft>
                <a:spcPct val="0"/>
              </a:spcAft>
            </a:pPr>
            <a:r>
              <a:rPr lang="en-US" altLang="zh-CN" sz="1700">
                <a:solidFill>
                  <a:schemeClr val="tx1">
                    <a:lumMod val="85000"/>
                    <a:lumOff val="15000"/>
                  </a:schemeClr>
                </a:solidFill>
                <a:latin typeface="+mn-ea"/>
                <a:cs typeface="+mn-ea"/>
              </a:rPr>
              <a:t>12-month momentum </a:t>
            </a:r>
            <a:r>
              <a:rPr lang="zh-CN" altLang="en-US" sz="1700">
                <a:solidFill>
                  <a:schemeClr val="tx1">
                    <a:lumMod val="85000"/>
                    <a:lumOff val="15000"/>
                  </a:schemeClr>
                </a:solidFill>
                <a:latin typeface="+mn-ea"/>
                <a:cs typeface="+mn-ea"/>
              </a:rPr>
              <a:t>（</a:t>
            </a:r>
            <a:r>
              <a:rPr lang="en-US" altLang="zh-CN" sz="1700">
                <a:solidFill>
                  <a:schemeClr val="tx1">
                    <a:lumMod val="85000"/>
                    <a:lumOff val="15000"/>
                  </a:schemeClr>
                </a:solidFill>
                <a:latin typeface="+mn-ea"/>
                <a:cs typeface="+mn-ea"/>
              </a:rPr>
              <a:t>linear regression)</a:t>
            </a:r>
            <a:endParaRPr lang="en-US" altLang="zh-CN" sz="1700">
              <a:solidFill>
                <a:schemeClr val="tx1">
                  <a:lumMod val="85000"/>
                  <a:lumOff val="15000"/>
                </a:schemeClr>
              </a:solidFill>
              <a:latin typeface="+mn-ea"/>
              <a:cs typeface="+mn-ea"/>
            </a:endParaRPr>
          </a:p>
          <a:p>
            <a:pPr algn="just" fontAlgn="b">
              <a:lnSpc>
                <a:spcPct val="150000"/>
              </a:lnSpc>
              <a:spcBef>
                <a:spcPct val="0"/>
              </a:spcBef>
              <a:spcAft>
                <a:spcPct val="0"/>
              </a:spcAft>
            </a:pPr>
            <a:r>
              <a:rPr lang="en-US" altLang="zh-CN" sz="1700">
                <a:solidFill>
                  <a:schemeClr val="tx1">
                    <a:lumMod val="85000"/>
                    <a:lumOff val="15000"/>
                  </a:schemeClr>
                </a:solidFill>
                <a:latin typeface="+mn-ea"/>
                <a:cs typeface="+mn-ea"/>
                <a:sym typeface="+mn-ea"/>
              </a:rPr>
              <a:t>Total Risk:0.01787764 </a:t>
            </a:r>
            <a:endParaRPr lang="en-US" altLang="zh-CN" sz="1700">
              <a:solidFill>
                <a:schemeClr val="tx1">
                  <a:lumMod val="85000"/>
                  <a:lumOff val="15000"/>
                </a:schemeClr>
              </a:solidFill>
              <a:latin typeface="+mn-ea"/>
              <a:cs typeface="+mn-ea"/>
            </a:endParaRPr>
          </a:p>
          <a:p>
            <a:pPr algn="just" fontAlgn="b">
              <a:lnSpc>
                <a:spcPct val="150000"/>
              </a:lnSpc>
              <a:spcBef>
                <a:spcPct val="0"/>
              </a:spcBef>
              <a:spcAft>
                <a:spcPct val="0"/>
              </a:spcAft>
            </a:pPr>
            <a:r>
              <a:rPr lang="en-US" altLang="zh-CN" sz="1700">
                <a:solidFill>
                  <a:schemeClr val="tx1">
                    <a:lumMod val="85000"/>
                    <a:lumOff val="15000"/>
                  </a:schemeClr>
                </a:solidFill>
                <a:latin typeface="+mn-ea"/>
                <a:cs typeface="+mn-ea"/>
                <a:sym typeface="+mn-ea"/>
              </a:rPr>
              <a:t>Tracking Error: 0.001474866(benchmark is portfolio return)</a:t>
            </a:r>
            <a:endParaRPr lang="en-US" altLang="zh-CN" sz="1700">
              <a:solidFill>
                <a:schemeClr val="tx1">
                  <a:lumMod val="85000"/>
                  <a:lumOff val="15000"/>
                </a:schemeClr>
              </a:solidFill>
              <a:latin typeface="+mn-ea"/>
              <a:cs typeface="+mn-ea"/>
            </a:endParaRPr>
          </a:p>
          <a:p>
            <a:pPr algn="just" fontAlgn="b">
              <a:lnSpc>
                <a:spcPct val="150000"/>
              </a:lnSpc>
              <a:spcBef>
                <a:spcPct val="0"/>
              </a:spcBef>
              <a:spcAft>
                <a:spcPct val="0"/>
              </a:spcAft>
            </a:pPr>
            <a:r>
              <a:rPr lang="en-US" altLang="zh-CN" sz="1700">
                <a:sym typeface="+mn-ea"/>
              </a:rPr>
              <a:t>Systematic Risk: 0.004398785 (momentum driven)</a:t>
            </a:r>
            <a:endParaRPr lang="en-US" altLang="zh-CN" sz="1700"/>
          </a:p>
          <a:p>
            <a:pPr algn="just" fontAlgn="b">
              <a:lnSpc>
                <a:spcPct val="150000"/>
              </a:lnSpc>
              <a:spcBef>
                <a:spcPct val="0"/>
              </a:spcBef>
              <a:spcAft>
                <a:spcPct val="0"/>
              </a:spcAft>
            </a:pPr>
            <a:r>
              <a:rPr lang="en-US" altLang="zh-CN" sz="1700">
                <a:sym typeface="+mn-ea"/>
              </a:rPr>
              <a:t>Idiosyncratic Risk: 0.0178167</a:t>
            </a:r>
            <a:endParaRPr lang="en-US" altLang="zh-CN" sz="1700"/>
          </a:p>
          <a:p>
            <a:pPr algn="just" fontAlgn="b">
              <a:lnSpc>
                <a:spcPct val="150000"/>
              </a:lnSpc>
              <a:spcBef>
                <a:spcPct val="0"/>
              </a:spcBef>
              <a:spcAft>
                <a:spcPct val="0"/>
              </a:spcAft>
            </a:pPr>
            <a:endParaRPr lang="en-US" altLang="zh-CN" sz="1700">
              <a:solidFill>
                <a:schemeClr val="tx1">
                  <a:lumMod val="85000"/>
                  <a:lumOff val="15000"/>
                </a:schemeClr>
              </a:solidFill>
              <a:latin typeface="+mn-ea"/>
              <a:cs typeface="+mn-ea"/>
            </a:endParaRPr>
          </a:p>
        </p:txBody>
      </p:sp>
      <p:sp>
        <p:nvSpPr>
          <p:cNvPr id="66" name="圆角矩形 65"/>
          <p:cNvSpPr/>
          <p:nvPr>
            <p:custDataLst>
              <p:tags r:id="rId7"/>
            </p:custDataLst>
          </p:nvPr>
        </p:nvSpPr>
        <p:spPr>
          <a:xfrm>
            <a:off x="1000157" y="3887566"/>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600">
              <a:sym typeface="+mn-ea"/>
            </a:endParaRPr>
          </a:p>
        </p:txBody>
      </p:sp>
      <p:sp>
        <p:nvSpPr>
          <p:cNvPr id="4" name="圆角矩形 35"/>
          <p:cNvSpPr/>
          <p:nvPr>
            <p:custDataLst>
              <p:tags r:id="rId8"/>
            </p:custDataLst>
          </p:nvPr>
        </p:nvSpPr>
        <p:spPr>
          <a:xfrm>
            <a:off x="448945" y="4408805"/>
            <a:ext cx="2376170" cy="720090"/>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000" b="1">
                <a:solidFill>
                  <a:schemeClr val="lt1">
                    <a:lumMod val="100000"/>
                  </a:schemeClr>
                </a:solidFill>
                <a:latin typeface="+mn-ea"/>
                <a:cs typeface="+mn-ea"/>
                <a:sym typeface="+mn-ea"/>
              </a:rPr>
              <a:t>Asset contribution of risk</a:t>
            </a:r>
            <a:endParaRPr lang="en-US" altLang="zh-CN" sz="2000" b="1">
              <a:solidFill>
                <a:schemeClr val="lt1">
                  <a:lumMod val="100000"/>
                </a:schemeClr>
              </a:solidFill>
              <a:latin typeface="+mn-ea"/>
              <a:cs typeface="+mn-ea"/>
              <a:sym typeface="+mn-ea"/>
            </a:endParaRPr>
          </a:p>
        </p:txBody>
      </p:sp>
      <p:sp>
        <p:nvSpPr>
          <p:cNvPr id="6" name="矩形 5"/>
          <p:cNvSpPr/>
          <p:nvPr>
            <p:custDataLst>
              <p:tags r:id="rId9"/>
            </p:custDataLst>
          </p:nvPr>
        </p:nvSpPr>
        <p:spPr>
          <a:xfrm>
            <a:off x="2961848" y="4167616"/>
            <a:ext cx="4519699" cy="1428626"/>
          </a:xfrm>
          <a:prstGeom prst="rect">
            <a:avLst/>
          </a:prstGeom>
          <a:noFill/>
        </p:spPr>
        <p:txBody>
          <a:bodyPr wrap="square" lIns="0" tIns="0" rIns="0" bIns="0" rtlCol="0" anchor="ctr" anchorCtr="0">
            <a:noAutofit/>
          </a:bodyPr>
          <a:p>
            <a:pPr algn="just" fontAlgn="b">
              <a:lnSpc>
                <a:spcPct val="150000"/>
              </a:lnSpc>
              <a:spcBef>
                <a:spcPct val="0"/>
              </a:spcBef>
              <a:spcAft>
                <a:spcPct val="0"/>
              </a:spcAft>
            </a:pPr>
            <a:r>
              <a:rPr lang="en-US" altLang="zh-CN" sz="1700">
                <a:sym typeface="+mn-ea"/>
              </a:rPr>
              <a:t> AMZN: </a:t>
            </a:r>
            <a:r>
              <a:rPr lang="en-US" altLang="zh-CN" sz="1700">
                <a:sym typeface="+mn-ea"/>
              </a:rPr>
              <a:t>9.008023x10</a:t>
            </a:r>
            <a:r>
              <a:rPr lang="en-US" altLang="zh-CN" sz="1700" baseline="30000">
                <a:sym typeface="+mn-ea"/>
              </a:rPr>
              <a:t>-8</a:t>
            </a:r>
            <a:r>
              <a:rPr lang="en-US" altLang="zh-CN" sz="1700">
                <a:sym typeface="+mn-ea"/>
              </a:rPr>
              <a:t> </a:t>
            </a:r>
            <a:endParaRPr lang="en-US" altLang="zh-CN" sz="1700"/>
          </a:p>
          <a:p>
            <a:pPr algn="just" fontAlgn="b">
              <a:lnSpc>
                <a:spcPct val="150000"/>
              </a:lnSpc>
              <a:spcBef>
                <a:spcPct val="0"/>
              </a:spcBef>
              <a:spcAft>
                <a:spcPct val="0"/>
              </a:spcAft>
            </a:pPr>
            <a:r>
              <a:rPr lang="en-US" altLang="zh-CN" sz="1700">
                <a:sym typeface="+mn-ea"/>
              </a:rPr>
              <a:t>AAPL:</a:t>
            </a:r>
            <a:r>
              <a:rPr lang="en-US" altLang="zh-CN" sz="1700">
                <a:sym typeface="+mn-ea"/>
              </a:rPr>
              <a:t> 0.01512609</a:t>
            </a:r>
            <a:endParaRPr lang="en-US" altLang="zh-CN" sz="1700"/>
          </a:p>
          <a:p>
            <a:pPr algn="just" fontAlgn="b">
              <a:lnSpc>
                <a:spcPct val="150000"/>
              </a:lnSpc>
              <a:spcBef>
                <a:spcPct val="0"/>
              </a:spcBef>
              <a:spcAft>
                <a:spcPct val="0"/>
              </a:spcAft>
            </a:pPr>
            <a:r>
              <a:rPr lang="en-US" altLang="zh-CN" sz="1700">
                <a:solidFill>
                  <a:srgbClr val="FF0000"/>
                </a:solidFill>
                <a:sym typeface="+mn-ea"/>
              </a:rPr>
              <a:t>MSFT: </a:t>
            </a:r>
            <a:r>
              <a:rPr lang="en-US" altLang="zh-CN" sz="1700">
                <a:solidFill>
                  <a:srgbClr val="FF0000"/>
                </a:solidFill>
                <a:sym typeface="+mn-ea"/>
              </a:rPr>
              <a:t>0.86779</a:t>
            </a:r>
            <a:endParaRPr lang="en-US" altLang="zh-CN" sz="1700"/>
          </a:p>
          <a:p>
            <a:pPr algn="just" fontAlgn="b">
              <a:lnSpc>
                <a:spcPct val="150000"/>
              </a:lnSpc>
              <a:spcBef>
                <a:spcPct val="0"/>
              </a:spcBef>
              <a:spcAft>
                <a:spcPct val="0"/>
              </a:spcAft>
            </a:pPr>
            <a:r>
              <a:rPr lang="en-US" altLang="zh-CN" sz="1700">
                <a:sym typeface="+mn-ea"/>
              </a:rPr>
              <a:t>GOOG: </a:t>
            </a:r>
            <a:r>
              <a:rPr lang="en-US" altLang="zh-CN" sz="1700">
                <a:sym typeface="+mn-ea"/>
              </a:rPr>
              <a:t>0.1170838</a:t>
            </a:r>
            <a:endParaRPr lang="en-US" altLang="zh-CN" sz="1700"/>
          </a:p>
          <a:p>
            <a:pPr algn="just" fontAlgn="b">
              <a:lnSpc>
                <a:spcPct val="150000"/>
              </a:lnSpc>
              <a:spcBef>
                <a:spcPct val="0"/>
              </a:spcBef>
              <a:spcAft>
                <a:spcPct val="0"/>
              </a:spcAft>
            </a:pPr>
            <a:endParaRPr lang="en-US" altLang="zh-CN" sz="1700">
              <a:solidFill>
                <a:schemeClr val="tx1">
                  <a:lumMod val="85000"/>
                  <a:lumOff val="15000"/>
                </a:schemeClr>
              </a:solidFill>
              <a:latin typeface="+mn-ea"/>
              <a:cs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idx="2"/>
            <p:custDataLst>
              <p:tags r:id="rId1"/>
            </p:custDataLst>
          </p:nvPr>
        </p:nvSpPr>
        <p:spPr>
          <a:xfrm>
            <a:off x="1828800" y="3004185"/>
            <a:ext cx="2649220" cy="1208405"/>
          </a:xfrm>
        </p:spPr>
        <p:txBody>
          <a:bodyPr/>
          <a:lstStyle/>
          <a:p>
            <a:r>
              <a:rPr lang="zh-CN" altLang="en-US" dirty="0"/>
              <a:t>0</a:t>
            </a:r>
            <a:r>
              <a:rPr dirty="0"/>
              <a:t>2</a:t>
            </a:r>
            <a:endParaRPr dirty="0"/>
          </a:p>
        </p:txBody>
      </p:sp>
      <p:sp>
        <p:nvSpPr>
          <p:cNvPr id="8" name="标题 7"/>
          <p:cNvSpPr>
            <a:spLocks noGrp="1"/>
          </p:cNvSpPr>
          <p:nvPr>
            <p:ph type="title" idx="1"/>
            <p:custDataLst>
              <p:tags r:id="rId2"/>
            </p:custDataLst>
          </p:nvPr>
        </p:nvSpPr>
        <p:spPr>
          <a:xfrm>
            <a:off x="6732905" y="2092325"/>
            <a:ext cx="5005070" cy="1684020"/>
          </a:xfrm>
        </p:spPr>
        <p:txBody>
          <a:bodyPr>
            <a:normAutofit fontScale="90000"/>
          </a:bodyPr>
          <a:lstStyle/>
          <a:p>
            <a:r>
              <a:rPr lang="zh-CN" altLang="en-US" dirty="0"/>
              <a:t>Part 2: Portfolio Construction Backtesting</a:t>
            </a:r>
            <a:endParaRPr lang="zh-CN" altLang="en-US" dirty="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descr="/data/temp/7d485b52-2033-11f0-80b8-1ab25010afc6.jpg7d485b52-2033-11f0-80b8-1ab25010afc6"/>
          <p:cNvPicPr>
            <a:picLocks noChangeAspect="1"/>
          </p:cNvPicPr>
          <p:nvPr>
            <p:custDataLst>
              <p:tags r:id="rId1"/>
            </p:custDataLst>
          </p:nvPr>
        </p:nvPicPr>
        <p:blipFill>
          <a:blip r:embed="rId2"/>
          <a:srcRect t="41" b="41"/>
          <a:stretch>
            <a:fillRect/>
          </a:stretch>
        </p:blipFill>
        <p:spPr>
          <a:xfrm>
            <a:off x="0" y="0"/>
            <a:ext cx="12192000" cy="3429000"/>
          </a:xfrm>
          <a:prstGeom prst="rect">
            <a:avLst/>
          </a:pr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15" name="矩形: 圆角 14"/>
          <p:cNvSpPr/>
          <p:nvPr>
            <p:custDataLst>
              <p:tags r:id="rId3"/>
            </p:custDataLst>
          </p:nvPr>
        </p:nvSpPr>
        <p:spPr>
          <a:xfrm>
            <a:off x="465455" y="2536825"/>
            <a:ext cx="11129010" cy="3237865"/>
          </a:xfrm>
          <a:prstGeom prst="roundRect">
            <a:avLst>
              <a:gd name="adj" fmla="val 9236"/>
            </a:avLst>
          </a:prstGeom>
          <a:solidFill>
            <a:schemeClr val="lt1">
              <a:lumMod val="100000"/>
            </a:schemeClr>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lstStyle/>
          <a:p>
            <a:pPr algn="ctr"/>
            <a:endParaRPr kumimoji="1" lang="zh-CN" altLang="en-US" sz="3200">
              <a:latin typeface="+mj-ea"/>
              <a:ea typeface="+mj-ea"/>
              <a:sym typeface="微软雅黑" panose="020B0503020204020204" charset="-122"/>
            </a:endParaRPr>
          </a:p>
        </p:txBody>
      </p:sp>
      <p:sp>
        <p:nvSpPr>
          <p:cNvPr id="17" name="标题 16"/>
          <p:cNvSpPr>
            <a:spLocks noGrp="1"/>
          </p:cNvSpPr>
          <p:nvPr>
            <p:ph type="title"/>
            <p:custDataLst>
              <p:tags r:id="rId4"/>
            </p:custDataLst>
          </p:nvPr>
        </p:nvSpPr>
        <p:spPr>
          <a:xfrm>
            <a:off x="1525270" y="2708910"/>
            <a:ext cx="9474200" cy="720090"/>
          </a:xfrm>
        </p:spPr>
        <p:txBody>
          <a:bodyPr anchor="ctr" anchorCtr="0"/>
          <a:lstStyle/>
          <a:p>
            <a:r>
              <a:rPr lang="zh-CN" altLang="en-US">
                <a:solidFill>
                  <a:srgbClr val="000000"/>
                </a:solidFill>
              </a:rPr>
              <a:t>Backtest Strategy Design</a:t>
            </a:r>
            <a:endParaRPr lang="zh-CN" altLang="en-US">
              <a:solidFill>
                <a:srgbClr val="000000"/>
              </a:solidFill>
            </a:endParaRPr>
          </a:p>
        </p:txBody>
      </p:sp>
      <p:sp>
        <p:nvSpPr>
          <p:cNvPr id="4" name="矩形 3"/>
          <p:cNvSpPr/>
          <p:nvPr>
            <p:custDataLst>
              <p:tags r:id="rId5"/>
            </p:custDataLst>
          </p:nvPr>
        </p:nvSpPr>
        <p:spPr>
          <a:xfrm>
            <a:off x="7008495" y="3905886"/>
            <a:ext cx="3959860" cy="1218565"/>
          </a:xfrm>
          <a:prstGeom prst="rect">
            <a:avLst/>
          </a:prstGeom>
          <a:noFill/>
        </p:spPr>
        <p:txBody>
          <a:bodyPr wrap="square" lIns="0" tIns="0" rIns="0" bIns="0" rtlCol="0" anchor="t">
            <a:noAutofit/>
          </a:bodyPr>
          <a:p>
            <a:pPr>
              <a:lnSpc>
                <a:spcPct val="150000"/>
              </a:lnSpc>
              <a:spcBef>
                <a:spcPct val="0"/>
              </a:spcBef>
              <a:spcAft>
                <a:spcPct val="0"/>
              </a:spcAft>
            </a:pPr>
            <a:r>
              <a:rPr lang="en-US" altLang="zh-CN" sz="1400" dirty="0">
                <a:solidFill>
                  <a:srgbClr val="000000"/>
                </a:solidFill>
                <a:latin typeface="+mn-ea"/>
                <a:cs typeface="+mn-ea"/>
                <a:sym typeface="+mn-ea"/>
              </a:rPr>
              <a:t>Rebalancing: Monthly.</a:t>
            </a:r>
            <a:endParaRPr lang="en-US" altLang="zh-CN" sz="1400" dirty="0">
              <a:solidFill>
                <a:srgbClr val="000000"/>
              </a:solidFill>
              <a:latin typeface="+mn-ea"/>
              <a:cs typeface="+mn-ea"/>
              <a:sym typeface="+mn-ea"/>
            </a:endParaRPr>
          </a:p>
          <a:p>
            <a:pPr>
              <a:lnSpc>
                <a:spcPct val="150000"/>
              </a:lnSpc>
              <a:spcBef>
                <a:spcPct val="0"/>
              </a:spcBef>
              <a:spcAft>
                <a:spcPct val="0"/>
              </a:spcAft>
            </a:pPr>
            <a:endParaRPr lang="en-US" altLang="zh-CN" sz="1400" dirty="0">
              <a:solidFill>
                <a:srgbClr val="000000"/>
              </a:solidFill>
              <a:latin typeface="+mn-ea"/>
              <a:cs typeface="+mn-ea"/>
              <a:sym typeface="+mn-ea"/>
            </a:endParaRPr>
          </a:p>
          <a:p>
            <a:pPr>
              <a:lnSpc>
                <a:spcPct val="150000"/>
              </a:lnSpc>
              <a:spcBef>
                <a:spcPct val="0"/>
              </a:spcBef>
              <a:spcAft>
                <a:spcPct val="0"/>
              </a:spcAft>
            </a:pPr>
            <a:r>
              <a:rPr lang="en-US" altLang="zh-CN" sz="1400" dirty="0">
                <a:solidFill>
                  <a:srgbClr val="000000"/>
                </a:solidFill>
                <a:latin typeface="+mn-ea"/>
                <a:cs typeface="+mn-ea"/>
                <a:sym typeface="+mn-ea"/>
              </a:rPr>
              <a:t>Period: 2019–2024.</a:t>
            </a:r>
            <a:endParaRPr lang="en-US" altLang="zh-CN" sz="1400" dirty="0">
              <a:solidFill>
                <a:srgbClr val="000000"/>
              </a:solidFill>
              <a:latin typeface="+mn-ea"/>
              <a:cs typeface="+mn-ea"/>
              <a:sym typeface="+mn-ea"/>
            </a:endParaRPr>
          </a:p>
          <a:p>
            <a:pPr>
              <a:lnSpc>
                <a:spcPct val="150000"/>
              </a:lnSpc>
              <a:spcBef>
                <a:spcPct val="0"/>
              </a:spcBef>
              <a:spcAft>
                <a:spcPct val="0"/>
              </a:spcAft>
            </a:pPr>
            <a:endParaRPr lang="en-US" altLang="zh-CN" sz="1400" dirty="0">
              <a:solidFill>
                <a:srgbClr val="000000"/>
              </a:solidFill>
              <a:latin typeface="+mn-ea"/>
              <a:cs typeface="+mn-ea"/>
              <a:sym typeface="+mn-ea"/>
            </a:endParaRPr>
          </a:p>
          <a:p>
            <a:pPr>
              <a:lnSpc>
                <a:spcPct val="150000"/>
              </a:lnSpc>
              <a:spcBef>
                <a:spcPct val="0"/>
              </a:spcBef>
              <a:spcAft>
                <a:spcPct val="0"/>
              </a:spcAft>
            </a:pPr>
            <a:r>
              <a:rPr lang="en-US" altLang="zh-CN" sz="1400" dirty="0">
                <a:solidFill>
                  <a:srgbClr val="000000"/>
                </a:solidFill>
                <a:latin typeface="+mn-ea"/>
                <a:cs typeface="+mn-ea"/>
                <a:sym typeface="+mn-ea"/>
              </a:rPr>
              <a:t>Original Equal-Weight as benchmark</a:t>
            </a:r>
            <a:endParaRPr lang="en-US" altLang="zh-CN" sz="1400" dirty="0">
              <a:solidFill>
                <a:srgbClr val="000000"/>
              </a:solidFill>
              <a:latin typeface="+mn-ea"/>
              <a:cs typeface="+mn-ea"/>
              <a:sym typeface="+mn-ea"/>
            </a:endParaRPr>
          </a:p>
        </p:txBody>
      </p:sp>
      <p:sp>
        <p:nvSpPr>
          <p:cNvPr id="9" name="矩形 8"/>
          <p:cNvSpPr/>
          <p:nvPr>
            <p:custDataLst>
              <p:tags r:id="rId6"/>
            </p:custDataLst>
          </p:nvPr>
        </p:nvSpPr>
        <p:spPr>
          <a:xfrm>
            <a:off x="1494155" y="3905886"/>
            <a:ext cx="3959860" cy="1218565"/>
          </a:xfrm>
          <a:prstGeom prst="rect">
            <a:avLst/>
          </a:prstGeom>
          <a:noFill/>
        </p:spPr>
        <p:txBody>
          <a:bodyPr wrap="square" lIns="0" tIns="0" rIns="0" bIns="0" rtlCol="0" anchor="t">
            <a:noAutofit/>
          </a:bodyPr>
          <a:p>
            <a:pPr>
              <a:lnSpc>
                <a:spcPct val="150000"/>
              </a:lnSpc>
              <a:spcBef>
                <a:spcPct val="0"/>
              </a:spcBef>
              <a:spcAft>
                <a:spcPct val="0"/>
              </a:spcAft>
            </a:pPr>
            <a:r>
              <a:rPr lang="en-US" altLang="zh-CN" sz="1400" dirty="0">
                <a:solidFill>
                  <a:srgbClr val="000000"/>
                </a:solidFill>
                <a:latin typeface="+mn-ea"/>
                <a:cs typeface="+mn-ea"/>
                <a:sym typeface="+mn-ea"/>
              </a:rPr>
              <a:t>Original Equal-Weight (Baseline).</a:t>
            </a:r>
            <a:endParaRPr lang="en-US" altLang="zh-CN" sz="1400" dirty="0">
              <a:solidFill>
                <a:srgbClr val="000000"/>
              </a:solidFill>
              <a:latin typeface="+mn-ea"/>
              <a:cs typeface="+mn-ea"/>
              <a:sym typeface="+mn-ea"/>
            </a:endParaRPr>
          </a:p>
          <a:p>
            <a:pPr>
              <a:lnSpc>
                <a:spcPct val="150000"/>
              </a:lnSpc>
              <a:spcBef>
                <a:spcPct val="0"/>
              </a:spcBef>
              <a:spcAft>
                <a:spcPct val="0"/>
              </a:spcAft>
            </a:pPr>
            <a:endParaRPr lang="en-US" altLang="zh-CN" sz="1400" dirty="0">
              <a:solidFill>
                <a:srgbClr val="000000"/>
              </a:solidFill>
              <a:latin typeface="+mn-ea"/>
              <a:cs typeface="+mn-ea"/>
              <a:sym typeface="+mn-ea"/>
            </a:endParaRPr>
          </a:p>
          <a:p>
            <a:pPr>
              <a:lnSpc>
                <a:spcPct val="150000"/>
              </a:lnSpc>
              <a:spcBef>
                <a:spcPct val="0"/>
              </a:spcBef>
              <a:spcAft>
                <a:spcPct val="0"/>
              </a:spcAft>
            </a:pPr>
            <a:r>
              <a:rPr lang="en-US" altLang="zh-CN" sz="1400" dirty="0">
                <a:solidFill>
                  <a:srgbClr val="000000"/>
                </a:solidFill>
                <a:latin typeface="+mn-ea"/>
                <a:cs typeface="+mn-ea"/>
                <a:sym typeface="+mn-ea"/>
              </a:rPr>
              <a:t>Minimum Tracking Error (Min TE).</a:t>
            </a:r>
            <a:endParaRPr lang="en-US" altLang="zh-CN" sz="1400" dirty="0">
              <a:solidFill>
                <a:srgbClr val="000000"/>
              </a:solidFill>
              <a:latin typeface="+mn-ea"/>
              <a:cs typeface="+mn-ea"/>
              <a:sym typeface="+mn-ea"/>
            </a:endParaRPr>
          </a:p>
          <a:p>
            <a:pPr>
              <a:lnSpc>
                <a:spcPct val="150000"/>
              </a:lnSpc>
              <a:spcBef>
                <a:spcPct val="0"/>
              </a:spcBef>
              <a:spcAft>
                <a:spcPct val="0"/>
              </a:spcAft>
            </a:pPr>
            <a:endParaRPr lang="en-US" altLang="zh-CN" sz="1400" dirty="0">
              <a:solidFill>
                <a:srgbClr val="000000"/>
              </a:solidFill>
              <a:latin typeface="+mn-ea"/>
              <a:cs typeface="+mn-ea"/>
              <a:sym typeface="+mn-ea"/>
            </a:endParaRPr>
          </a:p>
          <a:p>
            <a:pPr>
              <a:lnSpc>
                <a:spcPct val="150000"/>
              </a:lnSpc>
              <a:spcBef>
                <a:spcPct val="0"/>
              </a:spcBef>
              <a:spcAft>
                <a:spcPct val="0"/>
              </a:spcAft>
            </a:pPr>
            <a:r>
              <a:rPr lang="en-US" altLang="zh-CN" sz="1400" dirty="0">
                <a:solidFill>
                  <a:srgbClr val="000000"/>
                </a:solidFill>
                <a:latin typeface="+mn-ea"/>
                <a:cs typeface="+mn-ea"/>
                <a:sym typeface="+mn-ea"/>
              </a:rPr>
              <a:t>Mean-Variance Optimization (MVO).</a:t>
            </a:r>
            <a:endParaRPr lang="en-US" altLang="zh-CN" sz="1400" dirty="0">
              <a:solidFill>
                <a:srgbClr val="000000"/>
              </a:solidFill>
              <a:latin typeface="+mn-ea"/>
              <a:cs typeface="+mn-ea"/>
              <a:sym typeface="+mn-ea"/>
            </a:endParaRPr>
          </a:p>
        </p:txBody>
      </p:sp>
      <p:sp>
        <p:nvSpPr>
          <p:cNvPr id="10" name="矩形 9"/>
          <p:cNvSpPr/>
          <p:nvPr>
            <p:custDataLst>
              <p:tags r:id="rId7"/>
            </p:custDataLst>
          </p:nvPr>
        </p:nvSpPr>
        <p:spPr>
          <a:xfrm>
            <a:off x="1494155" y="3446146"/>
            <a:ext cx="3959860" cy="349250"/>
          </a:xfrm>
          <a:prstGeom prst="rect">
            <a:avLst/>
          </a:prstGeom>
          <a:noFill/>
        </p:spPr>
        <p:txBody>
          <a:bodyPr wrap="square" lIns="0" tIns="0" rIns="0" bIns="0" rtlCol="0" anchor="b" anchorCtr="0">
            <a:noAutofit/>
          </a:bodyPr>
          <a:p>
            <a:pPr>
              <a:spcBef>
                <a:spcPct val="0"/>
              </a:spcBef>
              <a:spcAft>
                <a:spcPct val="0"/>
              </a:spcAft>
            </a:pPr>
            <a:r>
              <a:rPr lang="en-US" altLang="zh-CN" sz="2000" b="1" dirty="0">
                <a:solidFill>
                  <a:schemeClr val="accent1"/>
                </a:solidFill>
                <a:latin typeface="+mn-ea"/>
                <a:cs typeface="+mn-ea"/>
                <a:sym typeface="+mn-ea"/>
              </a:rPr>
              <a:t>Strategies:</a:t>
            </a:r>
            <a:endParaRPr lang="en-US" altLang="zh-CN" sz="2000" b="1" dirty="0">
              <a:solidFill>
                <a:schemeClr val="accent1"/>
              </a:solidFill>
              <a:latin typeface="+mn-ea"/>
              <a:cs typeface="+mn-ea"/>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00"/>
            <a:ext cx="10800000" cy="720000"/>
          </a:xfrm>
        </p:spPr>
        <p:txBody>
          <a:bodyPr/>
          <a:lstStyle/>
          <a:p>
            <a:r>
              <a:rPr lang="zh-CN" altLang="en-US"/>
              <a:t>Historical Performance Comparison</a:t>
            </a:r>
            <a:r>
              <a:rPr lang="en-US" altLang="zh-CN"/>
              <a:t> </a:t>
            </a:r>
            <a:endParaRPr lang="en-US" altLang="zh-CN"/>
          </a:p>
        </p:txBody>
      </p:sp>
      <p:sp>
        <p:nvSpPr>
          <p:cNvPr id="2" name="文本框 1"/>
          <p:cNvSpPr txBox="1"/>
          <p:nvPr/>
        </p:nvSpPr>
        <p:spPr>
          <a:xfrm>
            <a:off x="8521065" y="2007235"/>
            <a:ext cx="2453005" cy="922020"/>
          </a:xfrm>
          <a:prstGeom prst="rect">
            <a:avLst/>
          </a:prstGeom>
          <a:noFill/>
        </p:spPr>
        <p:txBody>
          <a:bodyPr wrap="square" rtlCol="0">
            <a:spAutoFit/>
          </a:bodyPr>
          <a:p>
            <a:r>
              <a:rPr lang="en-US" altLang="zh-CN"/>
              <a:t>Original: 0.283</a:t>
            </a:r>
            <a:endParaRPr lang="en-US" altLang="zh-CN"/>
          </a:p>
          <a:p>
            <a:r>
              <a:rPr lang="en-US" altLang="zh-CN"/>
              <a:t>Min TE: 0.228</a:t>
            </a:r>
            <a:endParaRPr lang="en-US" altLang="zh-CN"/>
          </a:p>
          <a:p>
            <a:r>
              <a:rPr lang="en-US" altLang="zh-CN"/>
              <a:t>MVO: 0.377</a:t>
            </a:r>
            <a:endParaRPr lang="en-US" altLang="zh-CN"/>
          </a:p>
        </p:txBody>
      </p:sp>
      <p:sp>
        <p:nvSpPr>
          <p:cNvPr id="5" name="文本框 4"/>
          <p:cNvSpPr txBox="1"/>
          <p:nvPr/>
        </p:nvSpPr>
        <p:spPr>
          <a:xfrm>
            <a:off x="8604885" y="4809490"/>
            <a:ext cx="2286000" cy="922020"/>
          </a:xfrm>
          <a:prstGeom prst="rect">
            <a:avLst/>
          </a:prstGeom>
          <a:noFill/>
        </p:spPr>
        <p:txBody>
          <a:bodyPr wrap="square" rtlCol="0">
            <a:spAutoFit/>
          </a:bodyPr>
          <a:p>
            <a:r>
              <a:rPr lang="en-US" altLang="zh-CN"/>
              <a:t>Original: 0.247</a:t>
            </a:r>
            <a:endParaRPr lang="en-US" altLang="zh-CN"/>
          </a:p>
          <a:p>
            <a:r>
              <a:rPr lang="en-US" altLang="zh-CN"/>
              <a:t>Min TE: 0.300</a:t>
            </a:r>
            <a:endParaRPr lang="en-US" altLang="zh-CN"/>
          </a:p>
          <a:p>
            <a:r>
              <a:rPr lang="en-US" altLang="zh-CN"/>
              <a:t>MVO: 0.352</a:t>
            </a:r>
            <a:endParaRPr lang="en-US" altLang="zh-CN"/>
          </a:p>
        </p:txBody>
      </p:sp>
      <p:pic>
        <p:nvPicPr>
          <p:cNvPr id="6" name="图片 5" descr="年度回报率"/>
          <p:cNvPicPr>
            <a:picLocks noChangeAspect="1"/>
          </p:cNvPicPr>
          <p:nvPr/>
        </p:nvPicPr>
        <p:blipFill>
          <a:blip r:embed="rId2"/>
          <a:stretch>
            <a:fillRect/>
          </a:stretch>
        </p:blipFill>
        <p:spPr>
          <a:xfrm>
            <a:off x="630555" y="1064895"/>
            <a:ext cx="6565900" cy="2806700"/>
          </a:xfrm>
          <a:prstGeom prst="rect">
            <a:avLst/>
          </a:prstGeom>
        </p:spPr>
      </p:pic>
      <p:pic>
        <p:nvPicPr>
          <p:cNvPr id="7" name="图片 6" descr="年度波动率"/>
          <p:cNvPicPr>
            <a:picLocks noChangeAspect="1"/>
          </p:cNvPicPr>
          <p:nvPr/>
        </p:nvPicPr>
        <p:blipFill>
          <a:blip r:embed="rId3"/>
          <a:stretch>
            <a:fillRect/>
          </a:stretch>
        </p:blipFill>
        <p:spPr>
          <a:xfrm>
            <a:off x="630555" y="3871595"/>
            <a:ext cx="6635115" cy="285242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00"/>
            <a:ext cx="10800000" cy="720000"/>
          </a:xfrm>
        </p:spPr>
        <p:txBody>
          <a:bodyPr/>
          <a:lstStyle/>
          <a:p>
            <a:r>
              <a:rPr lang="zh-CN" altLang="en-US"/>
              <a:t>Historical Performance Comparison</a:t>
            </a:r>
            <a:endParaRPr lang="zh-CN" altLang="en-US"/>
          </a:p>
        </p:txBody>
      </p:sp>
      <p:sp>
        <p:nvSpPr>
          <p:cNvPr id="6" name="文本框 5"/>
          <p:cNvSpPr txBox="1"/>
          <p:nvPr/>
        </p:nvSpPr>
        <p:spPr>
          <a:xfrm>
            <a:off x="740410" y="1823085"/>
            <a:ext cx="10904220" cy="4584700"/>
          </a:xfrm>
          <a:prstGeom prst="rect">
            <a:avLst/>
          </a:prstGeom>
          <a:noFill/>
        </p:spPr>
        <p:txBody>
          <a:bodyPr wrap="square" rtlCol="0">
            <a:spAutoFit/>
          </a:bodyPr>
          <a:p>
            <a:pPr algn="just"/>
            <a:r>
              <a:rPr lang="en-US" altLang="zh-CN" sz="2000" b="1"/>
              <a:t>Min TE return the lowest</a:t>
            </a:r>
            <a:r>
              <a:rPr lang="en-US" altLang="zh-CN" b="1"/>
              <a:t>:</a:t>
            </a:r>
            <a:endParaRPr lang="en-US" altLang="zh-CN" b="1"/>
          </a:p>
          <a:p>
            <a:pPr marL="285750" indent="-285750" algn="just">
              <a:buFont typeface="Arial" panose="020B0604020202020204" pitchFamily="34" charset="0"/>
              <a:buChar char="•"/>
            </a:pPr>
            <a:r>
              <a:rPr lang="en-US" altLang="zh-CN"/>
              <a:t>Core Idea of the Min TE Strategy: The primary goal of this strategy is to minimize tracking error rather than maximize returns. This often means that the strategy may be more conservative and not pursue aggressive investments, leading to lower returns.</a:t>
            </a:r>
            <a:endParaRPr lang="en-US" altLang="zh-CN"/>
          </a:p>
          <a:p>
            <a:pPr marL="285750" indent="-285750" algn="just">
              <a:buFont typeface="Arial" panose="020B0604020202020204" pitchFamily="34" charset="0"/>
              <a:buChar char="•"/>
            </a:pPr>
            <a:r>
              <a:rPr lang="en-US" altLang="zh-CN"/>
              <a:t>Market Conditions: If the market is experiencing strong upward movement during the optimization period, the Min TE strategy may capture fewer returns due to its conservative nature, resulting in a lower annualized return.</a:t>
            </a:r>
            <a:endParaRPr lang="en-US" altLang="zh-CN"/>
          </a:p>
          <a:p>
            <a:pPr marL="285750" indent="-285750" algn="just">
              <a:buFont typeface="Arial" panose="020B0604020202020204" pitchFamily="34" charset="0"/>
              <a:buChar char="•"/>
            </a:pPr>
            <a:endParaRPr lang="en-US" altLang="zh-CN"/>
          </a:p>
          <a:p>
            <a:pPr indent="0" algn="just">
              <a:buFont typeface="Arial" panose="020B0604020202020204" pitchFamily="34" charset="0"/>
              <a:buNone/>
            </a:pPr>
            <a:r>
              <a:rPr lang="en-US" altLang="zh-CN" sz="2000" b="1"/>
              <a:t>Volatility of the optimized models higher than that of the unoptimized portfolio:</a:t>
            </a:r>
            <a:endParaRPr lang="en-US" altLang="zh-CN"/>
          </a:p>
          <a:p>
            <a:pPr marL="285750" indent="-285750" algn="just">
              <a:buFont typeface="Arial" panose="020B0604020202020204" pitchFamily="34" charset="0"/>
              <a:buChar char="•"/>
            </a:pPr>
            <a:r>
              <a:rPr lang="en-US" altLang="zh-CN"/>
              <a:t>Design of the Optimization Method: Some optimization methods, such as Min TE or MVO, may attempt to adjust the portfolio weights to reduce error while potentially increasing risk. If the optimization process becomes too concentrated on certain assets, it might lead to increased return volatility.</a:t>
            </a:r>
            <a:endParaRPr lang="en-US" altLang="zh-CN"/>
          </a:p>
          <a:p>
            <a:pPr marL="285750" indent="-285750" algn="just">
              <a:buFont typeface="Arial" panose="020B0604020202020204" pitchFamily="34" charset="0"/>
              <a:buChar char="•"/>
            </a:pPr>
            <a:r>
              <a:rPr lang="en-US" altLang="zh-CN"/>
              <a:t>Market Environment: If the optimized strategy is biased toward high-volatility assets, and those assets perform strongly during the reporting period, the volatility of returns could significantly increase.</a:t>
            </a:r>
            <a:endParaRPr lang="en-US" altLang="zh-CN"/>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00"/>
            <a:ext cx="10800000" cy="720000"/>
          </a:xfrm>
        </p:spPr>
        <p:txBody>
          <a:bodyPr/>
          <a:lstStyle/>
          <a:p>
            <a:r>
              <a:rPr lang="en-US" altLang="zh-CN"/>
              <a:t>Risk-Adjusted Returns (Sharpe Ratio)</a:t>
            </a:r>
            <a:endParaRPr lang="en-US" altLang="zh-CN"/>
          </a:p>
        </p:txBody>
      </p:sp>
      <p:sp>
        <p:nvSpPr>
          <p:cNvPr id="4" name="文本框 3"/>
          <p:cNvSpPr txBox="1"/>
          <p:nvPr/>
        </p:nvSpPr>
        <p:spPr>
          <a:xfrm>
            <a:off x="8505190" y="2211070"/>
            <a:ext cx="2817495" cy="922020"/>
          </a:xfrm>
          <a:prstGeom prst="rect">
            <a:avLst/>
          </a:prstGeom>
          <a:noFill/>
        </p:spPr>
        <p:txBody>
          <a:bodyPr wrap="square" rtlCol="0">
            <a:spAutoFit/>
          </a:bodyPr>
          <a:p>
            <a:r>
              <a:rPr lang="en-US" altLang="zh-CN"/>
              <a:t>Original: 1.733</a:t>
            </a:r>
            <a:endParaRPr lang="en-US" altLang="zh-CN"/>
          </a:p>
          <a:p>
            <a:r>
              <a:rPr lang="en-US" altLang="zh-CN"/>
              <a:t>Min TE: 1.358</a:t>
            </a:r>
            <a:endParaRPr lang="en-US" altLang="zh-CN"/>
          </a:p>
          <a:p>
            <a:r>
              <a:rPr lang="en-US" altLang="zh-CN"/>
              <a:t>MVO: 1.513</a:t>
            </a:r>
            <a:endParaRPr lang="en-US" altLang="zh-CN"/>
          </a:p>
        </p:txBody>
      </p:sp>
      <p:sp>
        <p:nvSpPr>
          <p:cNvPr id="6" name="文本框 5"/>
          <p:cNvSpPr txBox="1"/>
          <p:nvPr/>
        </p:nvSpPr>
        <p:spPr>
          <a:xfrm>
            <a:off x="853440" y="4549775"/>
            <a:ext cx="10643235" cy="2061210"/>
          </a:xfrm>
          <a:prstGeom prst="rect">
            <a:avLst/>
          </a:prstGeom>
          <a:noFill/>
        </p:spPr>
        <p:txBody>
          <a:bodyPr wrap="square" rtlCol="0">
            <a:spAutoFit/>
          </a:bodyPr>
          <a:p>
            <a:r>
              <a:rPr lang="en-US" altLang="zh-CN" sz="2000" b="1"/>
              <a:t>Sharpe ratio of the MVO optimization lower than that of the original portfolio:</a:t>
            </a:r>
            <a:endParaRPr lang="en-US" altLang="zh-CN" sz="2000" b="1"/>
          </a:p>
          <a:p>
            <a:pPr marL="285750" indent="-285750">
              <a:buFont typeface="Arial" panose="020B0604020202020204" pitchFamily="34" charset="0"/>
              <a:buChar char="•"/>
            </a:pPr>
            <a:r>
              <a:rPr lang="en-US" altLang="zh-CN"/>
              <a:t>Risk-Adjusted Returns: The Sharpe ratio measures excess return per unit of risk. Even if the MVO strategy achieves absolute returns, an increase in volatility may not allow the excess return to improve significantly, resulting in a lower Sharpe ratio.</a:t>
            </a:r>
            <a:endParaRPr lang="en-US" altLang="zh-CN"/>
          </a:p>
          <a:p>
            <a:pPr marL="285750" indent="-285750">
              <a:buFont typeface="Arial" panose="020B0604020202020204" pitchFamily="34" charset="0"/>
              <a:buChar char="•"/>
            </a:pPr>
            <a:r>
              <a:rPr lang="en-US" altLang="zh-CN"/>
              <a:t>Asset Allocation in the Portfolio: The MVO process could lead to a greater concentration in high-volatility assets, leading to an overall increase in risk while the returns might not sustain previous levels.</a:t>
            </a:r>
            <a:endParaRPr lang="en-US" altLang="zh-CN"/>
          </a:p>
        </p:txBody>
      </p:sp>
      <p:pic>
        <p:nvPicPr>
          <p:cNvPr id="5" name="图片 4" descr="年度夏普率"/>
          <p:cNvPicPr>
            <a:picLocks noChangeAspect="1"/>
          </p:cNvPicPr>
          <p:nvPr/>
        </p:nvPicPr>
        <p:blipFill>
          <a:blip r:embed="rId2"/>
          <a:stretch>
            <a:fillRect/>
          </a:stretch>
        </p:blipFill>
        <p:spPr>
          <a:xfrm>
            <a:off x="922020" y="1080135"/>
            <a:ext cx="6102985" cy="3535680"/>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00"/>
            <a:ext cx="10800000" cy="720000"/>
          </a:xfrm>
        </p:spPr>
        <p:txBody>
          <a:bodyPr/>
          <a:lstStyle/>
          <a:p>
            <a:r>
              <a:rPr lang="en-US" altLang="zh-CN"/>
              <a:t>Value at Risk (Historical and Normal Dis.)</a:t>
            </a:r>
            <a:endParaRPr lang="en-US" altLang="zh-CN"/>
          </a:p>
        </p:txBody>
      </p:sp>
      <p:sp>
        <p:nvSpPr>
          <p:cNvPr id="5" name="文本框 4"/>
          <p:cNvSpPr txBox="1"/>
          <p:nvPr/>
        </p:nvSpPr>
        <p:spPr>
          <a:xfrm>
            <a:off x="8888730" y="2063750"/>
            <a:ext cx="2068195" cy="4653280"/>
          </a:xfrm>
          <a:prstGeom prst="rect">
            <a:avLst/>
          </a:prstGeom>
          <a:noFill/>
        </p:spPr>
        <p:txBody>
          <a:bodyPr wrap="square" rtlCol="0">
            <a:noAutofit/>
          </a:bodyPr>
          <a:p>
            <a:r>
              <a:rPr lang="en-US" altLang="zh-CN"/>
              <a:t>Original: 0.0227</a:t>
            </a:r>
            <a:endParaRPr lang="en-US" altLang="zh-CN"/>
          </a:p>
          <a:p>
            <a:r>
              <a:rPr lang="en-US" altLang="zh-CN"/>
              <a:t>Min TE: 0.0263</a:t>
            </a:r>
            <a:endParaRPr lang="en-US" altLang="zh-CN"/>
          </a:p>
          <a:p>
            <a:r>
              <a:rPr lang="en-US" altLang="zh-CN"/>
              <a:t>MVO: 0.0282</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r>
              <a:rPr lang="en-US" altLang="zh-CN"/>
              <a:t>Original: 0.0267</a:t>
            </a:r>
            <a:endParaRPr lang="en-US" altLang="zh-CN"/>
          </a:p>
          <a:p>
            <a:r>
              <a:rPr lang="en-US" altLang="zh-CN"/>
              <a:t>Min TE: 0.0320</a:t>
            </a:r>
            <a:endParaRPr lang="en-US" altLang="zh-CN"/>
          </a:p>
          <a:p>
            <a:r>
              <a:rPr lang="en-US" altLang="zh-CN"/>
              <a:t>MVO: 0.0380</a:t>
            </a:r>
            <a:endParaRPr lang="en-US" altLang="zh-CN"/>
          </a:p>
        </p:txBody>
      </p:sp>
      <p:pic>
        <p:nvPicPr>
          <p:cNvPr id="7" name="图片 6" descr="VaR历史正"/>
          <p:cNvPicPr>
            <a:picLocks noChangeAspect="1"/>
          </p:cNvPicPr>
          <p:nvPr/>
        </p:nvPicPr>
        <p:blipFill>
          <a:blip r:embed="rId2"/>
          <a:stretch>
            <a:fillRect/>
          </a:stretch>
        </p:blipFill>
        <p:spPr>
          <a:xfrm>
            <a:off x="695960" y="1080135"/>
            <a:ext cx="7997825" cy="2900680"/>
          </a:xfrm>
          <a:prstGeom prst="rect">
            <a:avLst/>
          </a:prstGeom>
        </p:spPr>
      </p:pic>
      <p:pic>
        <p:nvPicPr>
          <p:cNvPr id="8" name="图片 7" descr="VaR正态正"/>
          <p:cNvPicPr>
            <a:picLocks noChangeAspect="1"/>
          </p:cNvPicPr>
          <p:nvPr/>
        </p:nvPicPr>
        <p:blipFill>
          <a:blip r:embed="rId3"/>
          <a:stretch>
            <a:fillRect/>
          </a:stretch>
        </p:blipFill>
        <p:spPr>
          <a:xfrm>
            <a:off x="758825" y="3980815"/>
            <a:ext cx="7855585" cy="284924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582930" y="360000"/>
            <a:ext cx="10800000" cy="720000"/>
          </a:xfrm>
        </p:spPr>
        <p:txBody>
          <a:bodyPr/>
          <a:lstStyle/>
          <a:p>
            <a:r>
              <a:rPr lang="en-US" altLang="zh-CN"/>
              <a:t>Min TE Performance  </a:t>
            </a:r>
            <a:endParaRPr lang="en-US" altLang="zh-CN"/>
          </a:p>
        </p:txBody>
      </p:sp>
      <p:pic>
        <p:nvPicPr>
          <p:cNvPr id="4" name="图片 3" descr="Min TE的权重"/>
          <p:cNvPicPr>
            <a:picLocks noChangeAspect="1"/>
          </p:cNvPicPr>
          <p:nvPr/>
        </p:nvPicPr>
        <p:blipFill>
          <a:blip r:embed="rId2"/>
          <a:stretch>
            <a:fillRect/>
          </a:stretch>
        </p:blipFill>
        <p:spPr>
          <a:xfrm>
            <a:off x="796290" y="1080770"/>
            <a:ext cx="7587615" cy="2721610"/>
          </a:xfrm>
          <a:prstGeom prst="rect">
            <a:avLst/>
          </a:prstGeom>
        </p:spPr>
      </p:pic>
      <p:pic>
        <p:nvPicPr>
          <p:cNvPr id="3" name="图片 2" descr="Risk contribution Min"/>
          <p:cNvPicPr>
            <a:picLocks noChangeAspect="1"/>
          </p:cNvPicPr>
          <p:nvPr/>
        </p:nvPicPr>
        <p:blipFill>
          <a:blip r:embed="rId3"/>
          <a:stretch>
            <a:fillRect/>
          </a:stretch>
        </p:blipFill>
        <p:spPr>
          <a:xfrm>
            <a:off x="857885" y="3939540"/>
            <a:ext cx="7615555" cy="2762250"/>
          </a:xfrm>
          <a:prstGeom prst="rect">
            <a:avLst/>
          </a:prstGeom>
        </p:spPr>
      </p:pic>
      <p:sp>
        <p:nvSpPr>
          <p:cNvPr id="6" name="文本框 5"/>
          <p:cNvSpPr txBox="1"/>
          <p:nvPr/>
        </p:nvSpPr>
        <p:spPr>
          <a:xfrm>
            <a:off x="8575040" y="1025525"/>
            <a:ext cx="3482340" cy="4603115"/>
          </a:xfrm>
          <a:prstGeom prst="rect">
            <a:avLst/>
          </a:prstGeom>
          <a:noFill/>
        </p:spPr>
        <p:txBody>
          <a:bodyPr wrap="square" rtlCol="0">
            <a:noAutofit/>
          </a:bodyPr>
          <a:p>
            <a:pPr algn="just"/>
            <a:r>
              <a:rPr lang="en-US" altLang="zh-CN" sz="1600"/>
              <a:t>The core goal of Min TE optimization is to bring the portfolio closer to the benchmark, not necessarily focusing on the overall risk level. Even if the benchmark itself has low volatility, the asset mix selected during the optimization process may lead to an increase in overall risk.</a:t>
            </a:r>
            <a:endParaRPr lang="en-US" altLang="zh-CN" sz="1600"/>
          </a:p>
          <a:p>
            <a:pPr algn="just"/>
            <a:endParaRPr lang="en-US" altLang="zh-CN" sz="1600"/>
          </a:p>
          <a:p>
            <a:pPr algn="just"/>
            <a:r>
              <a:rPr lang="en-US" altLang="zh-CN" sz="1600"/>
              <a:t>During the Min TE optimization process, certain assets with higher volatility may be introduced to better track the benchmark. These assets may have a high correlation with the benchmark, but their own volatility may increase the volatility of the entire portfolio.</a:t>
            </a:r>
            <a:endParaRPr lang="en-US" altLang="zh-CN" sz="1600"/>
          </a:p>
        </p:txBody>
      </p:sp>
    </p:spTree>
    <p:custDataLst>
      <p:tags r:id="rId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1"/>
            </p:custDataLst>
          </p:nvPr>
        </p:nvSpPr>
        <p:spPr/>
        <p:txBody>
          <a:bodyPr/>
          <a:lstStyle/>
          <a:p>
            <a:r>
              <a:rPr lang="zh-CN" altLang="en-US"/>
              <a:t>Total Risk and Tracking Error Dynamics</a:t>
            </a:r>
            <a:endParaRPr lang="zh-CN" altLang="en-US"/>
          </a:p>
        </p:txBody>
      </p:sp>
      <p:pic>
        <p:nvPicPr>
          <p:cNvPr id="2" name="图片 1" descr="总风险"/>
          <p:cNvPicPr>
            <a:picLocks noChangeAspect="1"/>
          </p:cNvPicPr>
          <p:nvPr/>
        </p:nvPicPr>
        <p:blipFill>
          <a:blip r:embed="rId2"/>
          <a:stretch>
            <a:fillRect/>
          </a:stretch>
        </p:blipFill>
        <p:spPr>
          <a:xfrm>
            <a:off x="695960" y="1340485"/>
            <a:ext cx="7385050" cy="2678430"/>
          </a:xfrm>
          <a:prstGeom prst="rect">
            <a:avLst/>
          </a:prstGeom>
        </p:spPr>
      </p:pic>
      <p:pic>
        <p:nvPicPr>
          <p:cNvPr id="3" name="图片 2" descr="跟踪误差"/>
          <p:cNvPicPr>
            <a:picLocks noChangeAspect="1"/>
          </p:cNvPicPr>
          <p:nvPr/>
        </p:nvPicPr>
        <p:blipFill>
          <a:blip r:embed="rId3"/>
          <a:stretch>
            <a:fillRect/>
          </a:stretch>
        </p:blipFill>
        <p:spPr>
          <a:xfrm>
            <a:off x="878205" y="4019550"/>
            <a:ext cx="7414895" cy="2689225"/>
          </a:xfrm>
          <a:prstGeom prst="rect">
            <a:avLst/>
          </a:prstGeom>
        </p:spPr>
      </p:pic>
      <p:sp>
        <p:nvSpPr>
          <p:cNvPr id="4" name="文本框 3"/>
          <p:cNvSpPr txBox="1"/>
          <p:nvPr/>
        </p:nvSpPr>
        <p:spPr>
          <a:xfrm>
            <a:off x="8148320" y="2089150"/>
            <a:ext cx="2890520" cy="922020"/>
          </a:xfrm>
          <a:prstGeom prst="rect">
            <a:avLst/>
          </a:prstGeom>
          <a:noFill/>
        </p:spPr>
        <p:txBody>
          <a:bodyPr wrap="square" rtlCol="0">
            <a:spAutoFit/>
          </a:bodyPr>
          <a:p>
            <a:r>
              <a:rPr lang="en-US" altLang="zh-CN"/>
              <a:t>Original: 0.0156</a:t>
            </a:r>
            <a:endParaRPr lang="en-US" altLang="zh-CN"/>
          </a:p>
          <a:p>
            <a:r>
              <a:rPr lang="en-US" altLang="zh-CN"/>
              <a:t>Min TE: 0.0134</a:t>
            </a:r>
            <a:endParaRPr lang="en-US" altLang="zh-CN"/>
          </a:p>
          <a:p>
            <a:r>
              <a:rPr lang="en-US" altLang="zh-CN"/>
              <a:t>MVO: 0.0168</a:t>
            </a:r>
            <a:endParaRPr lang="en-US" altLang="zh-CN"/>
          </a:p>
        </p:txBody>
      </p:sp>
      <p:sp>
        <p:nvSpPr>
          <p:cNvPr id="5" name="文本框 4"/>
          <p:cNvSpPr txBox="1"/>
          <p:nvPr/>
        </p:nvSpPr>
        <p:spPr>
          <a:xfrm>
            <a:off x="8293100" y="4902835"/>
            <a:ext cx="3131820" cy="922020"/>
          </a:xfrm>
          <a:prstGeom prst="rect">
            <a:avLst/>
          </a:prstGeom>
          <a:noFill/>
        </p:spPr>
        <p:txBody>
          <a:bodyPr wrap="square" rtlCol="0">
            <a:spAutoFit/>
          </a:bodyPr>
          <a:p>
            <a:r>
              <a:rPr lang="en-US" altLang="zh-CN"/>
              <a:t>Original: 0 (benchmark)</a:t>
            </a:r>
            <a:endParaRPr lang="en-US" altLang="zh-CN"/>
          </a:p>
          <a:p>
            <a:r>
              <a:rPr lang="en-US" altLang="zh-CN"/>
              <a:t>Min TE: 0.0098</a:t>
            </a:r>
            <a:endParaRPr lang="en-US" altLang="zh-CN"/>
          </a:p>
          <a:p>
            <a:r>
              <a:rPr lang="en-US" altLang="zh-CN"/>
              <a:t>MVO: 0.0151</a:t>
            </a:r>
            <a:endParaRPr lang="en-US" altLang="zh-CN"/>
          </a:p>
        </p:txBody>
      </p:sp>
    </p:spTree>
    <p:custDataLst>
      <p:tags r:id="rId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00"/>
            <a:ext cx="10800000" cy="720000"/>
          </a:xfrm>
        </p:spPr>
        <p:txBody>
          <a:bodyPr/>
          <a:lstStyle/>
          <a:p>
            <a:r>
              <a:rPr lang="en-US" altLang="zh-CN"/>
              <a:t>Cumulative Returns</a:t>
            </a:r>
            <a:endParaRPr lang="en-US" altLang="zh-CN"/>
          </a:p>
        </p:txBody>
      </p:sp>
      <p:sp>
        <p:nvSpPr>
          <p:cNvPr id="4" name="文本框 3"/>
          <p:cNvSpPr txBox="1"/>
          <p:nvPr/>
        </p:nvSpPr>
        <p:spPr>
          <a:xfrm>
            <a:off x="863600" y="4057650"/>
            <a:ext cx="10915650" cy="922020"/>
          </a:xfrm>
          <a:prstGeom prst="rect">
            <a:avLst/>
          </a:prstGeom>
          <a:noFill/>
        </p:spPr>
        <p:txBody>
          <a:bodyPr wrap="square" rtlCol="0">
            <a:spAutoFit/>
          </a:bodyPr>
          <a:p>
            <a:r>
              <a:rPr lang="en-US" altLang="zh-CN"/>
              <a:t>Min TE reduces the overall risk of the investment portfolio and obtains the lowest tracking error. However, due to the pursuit of the minimum tracking error, it ignores the return and increases the weight of high-volatility assets, so the cumulative return is the lowest, but the overall risk is lower.</a:t>
            </a:r>
            <a:endParaRPr lang="en-US" altLang="zh-CN"/>
          </a:p>
        </p:txBody>
      </p:sp>
      <p:sp>
        <p:nvSpPr>
          <p:cNvPr id="7" name="文本框 6"/>
          <p:cNvSpPr txBox="1"/>
          <p:nvPr/>
        </p:nvSpPr>
        <p:spPr>
          <a:xfrm>
            <a:off x="863600" y="5260340"/>
            <a:ext cx="11143615" cy="1476375"/>
          </a:xfrm>
          <a:prstGeom prst="rect">
            <a:avLst/>
          </a:prstGeom>
          <a:noFill/>
        </p:spPr>
        <p:txBody>
          <a:bodyPr wrap="square" rtlCol="0">
            <a:spAutoFit/>
          </a:bodyPr>
          <a:p>
            <a:r>
              <a:rPr lang="en-US" altLang="zh-CN"/>
              <a:t>MVO optimization has the highest cumulative return, but also has the highest risk compared to the other two portfolios. However, for a given return or a given risk, MVO optimization has the lowest risk or the highest return.The goal of MVO is to minimize the variance (risk) of the portfolio and find the optimal portfolio under a given expected return. Such a goal may lead to a portfolio on the efficient frontier with a good trade-off between return and risk</a:t>
            </a:r>
            <a:endParaRPr lang="en-US" altLang="zh-CN"/>
          </a:p>
        </p:txBody>
      </p:sp>
      <p:pic>
        <p:nvPicPr>
          <p:cNvPr id="3" name="图片 2" descr="累计收益曲线"/>
          <p:cNvPicPr>
            <a:picLocks noChangeAspect="1"/>
          </p:cNvPicPr>
          <p:nvPr/>
        </p:nvPicPr>
        <p:blipFill>
          <a:blip r:embed="rId2"/>
          <a:stretch>
            <a:fillRect/>
          </a:stretch>
        </p:blipFill>
        <p:spPr>
          <a:xfrm>
            <a:off x="939800" y="979170"/>
            <a:ext cx="6516370" cy="3141980"/>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系统性风险"/>
          <p:cNvPicPr>
            <a:picLocks noChangeAspect="1"/>
          </p:cNvPicPr>
          <p:nvPr/>
        </p:nvPicPr>
        <p:blipFill>
          <a:blip r:embed="rId1"/>
          <a:stretch>
            <a:fillRect/>
          </a:stretch>
        </p:blipFill>
        <p:spPr>
          <a:xfrm>
            <a:off x="695960" y="960755"/>
            <a:ext cx="7164705" cy="2598420"/>
          </a:xfrm>
          <a:prstGeom prst="rect">
            <a:avLst/>
          </a:prstGeom>
        </p:spPr>
      </p:pic>
      <p:pic>
        <p:nvPicPr>
          <p:cNvPr id="10" name="图片 9" descr="特异性风险"/>
          <p:cNvPicPr>
            <a:picLocks noChangeAspect="1"/>
          </p:cNvPicPr>
          <p:nvPr/>
        </p:nvPicPr>
        <p:blipFill>
          <a:blip r:embed="rId2"/>
          <a:stretch>
            <a:fillRect/>
          </a:stretch>
        </p:blipFill>
        <p:spPr>
          <a:xfrm>
            <a:off x="695960" y="3255645"/>
            <a:ext cx="7164705" cy="2598420"/>
          </a:xfrm>
          <a:prstGeom prst="rect">
            <a:avLst/>
          </a:prstGeom>
        </p:spPr>
      </p:pic>
      <p:sp>
        <p:nvSpPr>
          <p:cNvPr id="7" name="标题 6"/>
          <p:cNvSpPr>
            <a:spLocks noGrp="1"/>
          </p:cNvSpPr>
          <p:nvPr>
            <p:ph type="title"/>
            <p:custDataLst>
              <p:tags r:id="rId3"/>
            </p:custDataLst>
          </p:nvPr>
        </p:nvSpPr>
        <p:spPr/>
        <p:txBody>
          <a:bodyPr/>
          <a:lstStyle/>
          <a:p>
            <a:r>
              <a:rPr lang="zh-CN"/>
              <a:t>Historical Risk Decomposition</a:t>
            </a:r>
            <a:endParaRPr lang="zh-CN"/>
          </a:p>
        </p:txBody>
      </p:sp>
      <p:sp>
        <p:nvSpPr>
          <p:cNvPr id="5" name="矩形 4"/>
          <p:cNvSpPr/>
          <p:nvPr>
            <p:custDataLst>
              <p:tags r:id="rId4"/>
            </p:custDataLst>
          </p:nvPr>
        </p:nvSpPr>
        <p:spPr>
          <a:xfrm>
            <a:off x="631825" y="5975217"/>
            <a:ext cx="2897305" cy="1333316"/>
          </a:xfrm>
          <a:prstGeom prst="rect">
            <a:avLst/>
          </a:prstGeom>
          <a:noFill/>
        </p:spPr>
        <p:txBody>
          <a:bodyPr wrap="square" lIns="0" tIns="0" rIns="0" bIns="0" rtlCol="0" anchor="t">
            <a:noAutofit/>
          </a:bodyPr>
          <a:p>
            <a:pPr>
              <a:lnSpc>
                <a:spcPct val="150000"/>
              </a:lnSpc>
              <a:spcBef>
                <a:spcPct val="0"/>
              </a:spcBef>
              <a:spcAft>
                <a:spcPct val="0"/>
              </a:spcAft>
            </a:pPr>
            <a:r>
              <a:rPr lang="zh-CN" altLang="en-US" sz="1300" dirty="0">
                <a:solidFill>
                  <a:srgbClr val="000000"/>
                </a:solidFill>
                <a:latin typeface="+mn-ea"/>
                <a:cs typeface="+mn-ea"/>
                <a:sym typeface="+mn-ea"/>
              </a:rPr>
              <a:t>COVID-19 caused a significant surge, impacting momentum factor trends</a:t>
            </a:r>
            <a:endParaRPr lang="zh-CN" altLang="en-US" sz="1300" dirty="0">
              <a:solidFill>
                <a:srgbClr val="000000"/>
              </a:solidFill>
              <a:latin typeface="+mn-ea"/>
              <a:cs typeface="+mn-ea"/>
              <a:sym typeface="+mn-ea"/>
            </a:endParaRPr>
          </a:p>
        </p:txBody>
      </p:sp>
      <p:sp>
        <p:nvSpPr>
          <p:cNvPr id="6" name="矩形 5"/>
          <p:cNvSpPr/>
          <p:nvPr>
            <p:custDataLst>
              <p:tags r:id="rId5"/>
            </p:custDataLst>
          </p:nvPr>
        </p:nvSpPr>
        <p:spPr>
          <a:xfrm>
            <a:off x="631825" y="5472184"/>
            <a:ext cx="2897305" cy="382138"/>
          </a:xfrm>
          <a:prstGeom prst="rect">
            <a:avLst/>
          </a:prstGeom>
          <a:noFill/>
        </p:spPr>
        <p:txBody>
          <a:bodyPr wrap="square" lIns="0" tIns="0" rIns="0" bIns="0" rtlCol="0" anchor="b" anchorCtr="0">
            <a:noAutofit/>
          </a:bodyPr>
          <a:p>
            <a:pPr>
              <a:spcBef>
                <a:spcPct val="0"/>
              </a:spcBef>
              <a:spcAft>
                <a:spcPct val="0"/>
              </a:spcAft>
            </a:pPr>
            <a:r>
              <a:rPr lang="zh-CN" altLang="en-US" sz="1600" b="1" dirty="0">
                <a:solidFill>
                  <a:schemeClr val="accent1"/>
                </a:solidFill>
                <a:latin typeface="+mn-ea"/>
                <a:cs typeface="+mn-ea"/>
                <a:sym typeface="+mn-ea"/>
              </a:rPr>
              <a:t>Systematic Risk Overview</a:t>
            </a:r>
            <a:endParaRPr lang="zh-CN" altLang="en-US" sz="1600" b="1" dirty="0">
              <a:solidFill>
                <a:schemeClr val="accent1"/>
              </a:solidFill>
              <a:latin typeface="+mn-ea"/>
              <a:cs typeface="+mn-ea"/>
              <a:sym typeface="+mn-ea"/>
            </a:endParaRPr>
          </a:p>
        </p:txBody>
      </p:sp>
      <p:sp>
        <p:nvSpPr>
          <p:cNvPr id="8" name="矩形 7"/>
          <p:cNvSpPr/>
          <p:nvPr>
            <p:custDataLst>
              <p:tags r:id="rId6"/>
            </p:custDataLst>
          </p:nvPr>
        </p:nvSpPr>
        <p:spPr>
          <a:xfrm>
            <a:off x="8100695" y="5854065"/>
            <a:ext cx="3714750" cy="1333500"/>
          </a:xfrm>
          <a:prstGeom prst="rect">
            <a:avLst/>
          </a:prstGeom>
          <a:noFill/>
        </p:spPr>
        <p:txBody>
          <a:bodyPr wrap="square" lIns="0" tIns="0" rIns="0" bIns="0" rtlCol="0" anchor="t">
            <a:noAutofit/>
          </a:bodyPr>
          <a:p>
            <a:pPr>
              <a:lnSpc>
                <a:spcPct val="150000"/>
              </a:lnSpc>
              <a:spcBef>
                <a:spcPct val="0"/>
              </a:spcBef>
              <a:spcAft>
                <a:spcPct val="0"/>
              </a:spcAft>
            </a:pPr>
            <a:r>
              <a:rPr lang="zh-CN" altLang="en-US" sz="1300">
                <a:solidFill>
                  <a:srgbClr val="000000"/>
                </a:solidFill>
                <a:latin typeface="+mn-ea"/>
                <a:cs typeface="+mn-ea"/>
                <a:sym typeface="+mn-ea"/>
              </a:rPr>
              <a:t>During the pandemic, systematic risk trends escalated, with individual stock contributions varying over time</a:t>
            </a:r>
            <a:endParaRPr lang="zh-CN" altLang="en-US" sz="1300">
              <a:solidFill>
                <a:srgbClr val="000000"/>
              </a:solidFill>
              <a:latin typeface="+mn-ea"/>
              <a:cs typeface="+mn-ea"/>
              <a:sym typeface="+mn-ea"/>
            </a:endParaRPr>
          </a:p>
        </p:txBody>
      </p:sp>
      <p:sp>
        <p:nvSpPr>
          <p:cNvPr id="9" name="矩形 8"/>
          <p:cNvSpPr/>
          <p:nvPr>
            <p:custDataLst>
              <p:tags r:id="rId7"/>
            </p:custDataLst>
          </p:nvPr>
        </p:nvSpPr>
        <p:spPr>
          <a:xfrm>
            <a:off x="8100895" y="5472184"/>
            <a:ext cx="2897305" cy="382138"/>
          </a:xfrm>
          <a:prstGeom prst="rect">
            <a:avLst/>
          </a:prstGeom>
          <a:noFill/>
        </p:spPr>
        <p:txBody>
          <a:bodyPr wrap="square" lIns="0" tIns="0" rIns="0" bIns="0" rtlCol="0" anchor="b" anchorCtr="0">
            <a:noAutofit/>
          </a:bodyPr>
          <a:p>
            <a:pPr>
              <a:spcBef>
                <a:spcPct val="0"/>
              </a:spcBef>
              <a:spcAft>
                <a:spcPct val="0"/>
              </a:spcAft>
            </a:pPr>
            <a:r>
              <a:rPr lang="zh-CN" altLang="en-US" sz="1600" b="1">
                <a:solidFill>
                  <a:schemeClr val="accent1"/>
                </a:solidFill>
                <a:latin typeface="+mn-ea"/>
                <a:cs typeface="+mn-ea"/>
                <a:sym typeface="+mn-ea"/>
              </a:rPr>
              <a:t>Risk Trend Evolution</a:t>
            </a:r>
            <a:endParaRPr lang="zh-CN" altLang="en-US" sz="1600" b="1">
              <a:solidFill>
                <a:schemeClr val="accent1"/>
              </a:solidFill>
              <a:latin typeface="+mn-ea"/>
              <a:cs typeface="+mn-ea"/>
              <a:sym typeface="+mn-ea"/>
            </a:endParaRPr>
          </a:p>
        </p:txBody>
      </p:sp>
      <p:sp>
        <p:nvSpPr>
          <p:cNvPr id="2" name="文本框 1"/>
          <p:cNvSpPr txBox="1"/>
          <p:nvPr/>
        </p:nvSpPr>
        <p:spPr>
          <a:xfrm>
            <a:off x="8100695" y="1922780"/>
            <a:ext cx="3241040" cy="922020"/>
          </a:xfrm>
          <a:prstGeom prst="rect">
            <a:avLst/>
          </a:prstGeom>
          <a:noFill/>
        </p:spPr>
        <p:txBody>
          <a:bodyPr wrap="square" rtlCol="0">
            <a:spAutoFit/>
          </a:bodyPr>
          <a:p>
            <a:r>
              <a:rPr lang="en-US" altLang="zh-CN"/>
              <a:t>Original: 0.00009889</a:t>
            </a:r>
            <a:endParaRPr lang="en-US" altLang="zh-CN"/>
          </a:p>
          <a:p>
            <a:r>
              <a:rPr lang="en-US" altLang="zh-CN"/>
              <a:t>Min TE: 0.0001583</a:t>
            </a:r>
            <a:endParaRPr lang="en-US" altLang="zh-CN"/>
          </a:p>
          <a:p>
            <a:r>
              <a:rPr lang="en-US" altLang="zh-CN"/>
              <a:t>MVO: 0.0003108</a:t>
            </a:r>
            <a:endParaRPr lang="en-US" altLang="zh-CN"/>
          </a:p>
        </p:txBody>
      </p:sp>
      <p:sp>
        <p:nvSpPr>
          <p:cNvPr id="12" name="文本框 11"/>
          <p:cNvSpPr txBox="1"/>
          <p:nvPr/>
        </p:nvSpPr>
        <p:spPr>
          <a:xfrm>
            <a:off x="8100695" y="4163060"/>
            <a:ext cx="2952750" cy="922020"/>
          </a:xfrm>
          <a:prstGeom prst="rect">
            <a:avLst/>
          </a:prstGeom>
          <a:noFill/>
        </p:spPr>
        <p:txBody>
          <a:bodyPr wrap="square" rtlCol="0">
            <a:spAutoFit/>
          </a:bodyPr>
          <a:p>
            <a:r>
              <a:rPr lang="en-US" altLang="zh-CN"/>
              <a:t>Original: 0.000197</a:t>
            </a:r>
            <a:endParaRPr lang="en-US" altLang="zh-CN"/>
          </a:p>
          <a:p>
            <a:r>
              <a:rPr lang="en-US" altLang="zh-CN"/>
              <a:t>Min TE: 0.00005695</a:t>
            </a:r>
            <a:endParaRPr lang="en-US" altLang="zh-CN"/>
          </a:p>
          <a:p>
            <a:r>
              <a:rPr lang="en-US" altLang="zh-CN"/>
              <a:t>MVO: 0.000009754</a:t>
            </a:r>
            <a:endParaRPr lang="en-US" altLang="zh-CN"/>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t>Historical Risk Decomposition</a:t>
            </a:r>
            <a:endParaRPr lang="zh-CN"/>
          </a:p>
        </p:txBody>
      </p:sp>
      <p:sp>
        <p:nvSpPr>
          <p:cNvPr id="13" name="文本框 12"/>
          <p:cNvSpPr txBox="1"/>
          <p:nvPr/>
        </p:nvSpPr>
        <p:spPr>
          <a:xfrm>
            <a:off x="1223645" y="1915795"/>
            <a:ext cx="10272395" cy="3753485"/>
          </a:xfrm>
          <a:prstGeom prst="rect">
            <a:avLst/>
          </a:prstGeom>
          <a:noFill/>
        </p:spPr>
        <p:txBody>
          <a:bodyPr wrap="square" rtlCol="0">
            <a:spAutoFit/>
          </a:bodyPr>
          <a:p>
            <a:r>
              <a:rPr lang="en-US" altLang="zh-CN" sz="2000" b="1"/>
              <a:t>Systematic risk of the unoptimized portfolio the lowest:</a:t>
            </a:r>
            <a:endParaRPr lang="en-US" altLang="zh-CN" sz="2000" b="1"/>
          </a:p>
          <a:p>
            <a:pPr marL="285750" indent="-285750">
              <a:buFont typeface="Arial" panose="020B0604020202020204" pitchFamily="34" charset="0"/>
              <a:buChar char="•"/>
            </a:pPr>
            <a:r>
              <a:rPr lang="en-US" altLang="zh-CN"/>
              <a:t>Diversification: The unoptimized investment portfolio may be more diversified, reducing the impact of specific market factors on the overall performance of the portfolio, thus lowering systematic risk.</a:t>
            </a:r>
            <a:endParaRPr lang="en-US" altLang="zh-CN"/>
          </a:p>
          <a:p>
            <a:pPr marL="285750" indent="-285750">
              <a:buFont typeface="Arial" panose="020B0604020202020204" pitchFamily="34" charset="0"/>
              <a:buChar char="•"/>
            </a:pPr>
            <a:r>
              <a:rPr lang="en-US" altLang="zh-CN"/>
              <a:t>Asset Allocation: The original portfolio may naturally lower systematic risk through even allocation or a mix of different assets, while optimized models may concentrate on fewer assets, causing systematic risk to rise.</a:t>
            </a:r>
            <a:endParaRPr lang="en-US" altLang="zh-CN"/>
          </a:p>
          <a:p>
            <a:pPr indent="0">
              <a:buFont typeface="Arial" panose="020B0604020202020204" pitchFamily="34" charset="0"/>
              <a:buNone/>
            </a:pPr>
            <a:r>
              <a:rPr lang="en-US" altLang="zh-CN" sz="2000" b="1"/>
              <a:t>Idiosyncratic risk lower after optimization:</a:t>
            </a:r>
            <a:endParaRPr lang="en-US" altLang="zh-CN" sz="2000" b="1"/>
          </a:p>
          <a:p>
            <a:pPr marL="285750" indent="-285750">
              <a:buFont typeface="Arial" panose="020B0604020202020204" pitchFamily="34" charset="0"/>
              <a:buChar char="•"/>
            </a:pPr>
            <a:r>
              <a:rPr lang="en-US" altLang="zh-CN"/>
              <a:t>Diversification Effect: Optimization models (such as Min TE and MVO) typically seek to balance risk and return across all assets, effectively diversifying away specific stock or industry risks.</a:t>
            </a:r>
            <a:endParaRPr lang="en-US" altLang="zh-CN"/>
          </a:p>
          <a:p>
            <a:pPr marL="285750" indent="-285750">
              <a:buFont typeface="Arial" panose="020B0604020202020204" pitchFamily="34" charset="0"/>
              <a:buChar char="•"/>
            </a:pPr>
            <a:r>
              <a:rPr lang="en-US" altLang="zh-CN"/>
              <a:t>Optimization Objectives: These strategies aim to minimize idiosyncratic risk by building a more efficient portfolio through better asset allocation while controlling for overall risk.</a:t>
            </a:r>
            <a:endParaRPr lang="en-US" altLang="zh-CN"/>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idx="2"/>
            <p:custDataLst>
              <p:tags r:id="rId1"/>
            </p:custDataLst>
          </p:nvPr>
        </p:nvSpPr>
        <p:spPr>
          <a:xfrm>
            <a:off x="1828800" y="3004185"/>
            <a:ext cx="2649220" cy="1208405"/>
          </a:xfrm>
        </p:spPr>
        <p:txBody>
          <a:bodyPr/>
          <a:lstStyle/>
          <a:p>
            <a:r>
              <a:rPr lang="zh-CN" altLang="en-US" dirty="0"/>
              <a:t>0</a:t>
            </a:r>
            <a:r>
              <a:rPr dirty="0"/>
              <a:t>3</a:t>
            </a:r>
            <a:endParaRPr dirty="0"/>
          </a:p>
        </p:txBody>
      </p:sp>
      <p:sp>
        <p:nvSpPr>
          <p:cNvPr id="8" name="标题 7"/>
          <p:cNvSpPr>
            <a:spLocks noGrp="1"/>
          </p:cNvSpPr>
          <p:nvPr>
            <p:ph type="title" idx="1"/>
            <p:custDataLst>
              <p:tags r:id="rId2"/>
            </p:custDataLst>
          </p:nvPr>
        </p:nvSpPr>
        <p:spPr>
          <a:xfrm>
            <a:off x="6732905" y="2092325"/>
            <a:ext cx="5005070" cy="1684020"/>
          </a:xfrm>
        </p:spPr>
        <p:txBody>
          <a:bodyPr>
            <a:normAutofit fontScale="90000"/>
          </a:bodyPr>
          <a:lstStyle/>
          <a:p>
            <a:r>
              <a:rPr lang="zh-CN" altLang="en-US" dirty="0"/>
              <a:t>Part 3: </a:t>
            </a:r>
            <a:r>
              <a:rPr lang="en-US" altLang="zh-CN" dirty="0"/>
              <a:t>Conclusion</a:t>
            </a:r>
            <a:r>
              <a:rPr lang="zh-CN" altLang="en-US" dirty="0"/>
              <a:t> and </a:t>
            </a:r>
            <a:r>
              <a:rPr lang="en-US" altLang="zh-CN" dirty="0"/>
              <a:t>weakness</a:t>
            </a:r>
            <a:endParaRPr lang="en-US" altLang="zh-CN" dirty="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Con</a:t>
            </a:r>
            <a:r>
              <a:rPr lang="en-US" altLang="zh-CN"/>
              <a:t>clusion</a:t>
            </a:r>
            <a:endParaRPr lang="en-US" altLang="zh-CN"/>
          </a:p>
        </p:txBody>
      </p:sp>
      <p:sp>
        <p:nvSpPr>
          <p:cNvPr id="9" name="矩形 8"/>
          <p:cNvSpPr/>
          <p:nvPr>
            <p:custDataLst>
              <p:tags r:id="rId2"/>
            </p:custDataLst>
          </p:nvPr>
        </p:nvSpPr>
        <p:spPr>
          <a:xfrm>
            <a:off x="3475084" y="2200225"/>
            <a:ext cx="5246174" cy="1498492"/>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dirty="0">
                <a:solidFill>
                  <a:schemeClr val="tx1">
                    <a:lumMod val="85000"/>
                    <a:lumOff val="15000"/>
                  </a:schemeClr>
                </a:solidFill>
                <a:latin typeface="+mn-ea"/>
                <a:cs typeface="+mn-ea"/>
              </a:rPr>
              <a:t> </a:t>
            </a:r>
            <a:endParaRPr lang="zh-CN" altLang="en-US" dirty="0">
              <a:solidFill>
                <a:schemeClr val="tx1">
                  <a:lumMod val="85000"/>
                  <a:lumOff val="15000"/>
                </a:schemeClr>
              </a:solidFill>
              <a:latin typeface="+mn-ea"/>
              <a:cs typeface="+mn-ea"/>
            </a:endParaRPr>
          </a:p>
        </p:txBody>
      </p:sp>
      <p:sp>
        <p:nvSpPr>
          <p:cNvPr id="10" name="圆角矩形 24"/>
          <p:cNvSpPr/>
          <p:nvPr>
            <p:custDataLst>
              <p:tags r:id="rId3"/>
            </p:custDataLst>
          </p:nvPr>
        </p:nvSpPr>
        <p:spPr>
          <a:xfrm>
            <a:off x="4827634" y="4184565"/>
            <a:ext cx="1826527" cy="529190"/>
          </a:xfrm>
          <a:prstGeom prst="roundRect">
            <a:avLst>
              <a:gd name="adj" fmla="val 11999"/>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1600" b="1">
                <a:solidFill>
                  <a:srgbClr val="FFFFFF"/>
                </a:solidFill>
                <a:latin typeface="+mn-ea"/>
                <a:cs typeface="+mn-ea"/>
                <a:sym typeface="+mn-ea"/>
              </a:rPr>
              <a:t>Optimal Strategies</a:t>
            </a:r>
            <a:endParaRPr lang="zh-CN" altLang="en-US" sz="1600" b="1">
              <a:solidFill>
                <a:srgbClr val="FFFFFF"/>
              </a:solidFill>
              <a:latin typeface="+mn-ea"/>
              <a:cs typeface="+mn-ea"/>
              <a:sym typeface="+mn-ea"/>
            </a:endParaRPr>
          </a:p>
        </p:txBody>
      </p:sp>
      <p:sp>
        <p:nvSpPr>
          <p:cNvPr id="11" name="矩形 10"/>
          <p:cNvSpPr/>
          <p:nvPr>
            <p:custDataLst>
              <p:tags r:id="rId4"/>
            </p:custDataLst>
          </p:nvPr>
        </p:nvSpPr>
        <p:spPr>
          <a:xfrm>
            <a:off x="3475084" y="4713509"/>
            <a:ext cx="5246174" cy="1498492"/>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dirty="0">
                <a:solidFill>
                  <a:schemeClr val="tx1">
                    <a:lumMod val="85000"/>
                    <a:lumOff val="15000"/>
                  </a:schemeClr>
                </a:solidFill>
                <a:latin typeface="+mn-ea"/>
                <a:cs typeface="+mn-ea"/>
              </a:rPr>
              <a:t>Min TE: Suitable for risk-averse investors
MVO: Offers high risk-reward ratio for aggressive profiles</a:t>
            </a:r>
            <a:endParaRPr lang="zh-CN" altLang="en-US" dirty="0">
              <a:solidFill>
                <a:schemeClr val="tx1">
                  <a:lumMod val="85000"/>
                  <a:lumOff val="15000"/>
                </a:schemeClr>
              </a:solidFill>
              <a:latin typeface="+mn-ea"/>
              <a:cs typeface="+mn-ea"/>
            </a:endParaRPr>
          </a:p>
        </p:txBody>
      </p:sp>
      <p:sp>
        <p:nvSpPr>
          <p:cNvPr id="2" name="文本框 1"/>
          <p:cNvSpPr txBox="1"/>
          <p:nvPr/>
        </p:nvSpPr>
        <p:spPr>
          <a:xfrm>
            <a:off x="410845" y="2111375"/>
            <a:ext cx="11448415" cy="1198880"/>
          </a:xfrm>
          <a:prstGeom prst="rect">
            <a:avLst/>
          </a:prstGeom>
          <a:noFill/>
        </p:spPr>
        <p:txBody>
          <a:bodyPr wrap="square" rtlCol="0">
            <a:spAutoFit/>
          </a:bodyPr>
          <a:p>
            <a:r>
              <a:rPr lang="en-US" altLang="zh-CN"/>
              <a:t>Overall, optimization strategies (such as MVO and Min TE) do not always effectively enhance returns and Sharpe ratios. Their effectiveness is highly dependent on market conditions, asset characteristics, and the objectives of the optimization. Therefore, it is essential to consider current market conditions, asset features, and investment goals thoroughly before implementing optimization.</a:t>
            </a:r>
            <a:endParaRPr lang="en-US" altLang="zh-CN"/>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en-US" altLang="zh-CN"/>
              <a:t>Weakness and improvement</a:t>
            </a:r>
            <a:endParaRPr lang="en-US" altLang="zh-CN"/>
          </a:p>
        </p:txBody>
      </p:sp>
      <p:pic>
        <p:nvPicPr>
          <p:cNvPr id="4" name="图片 3" descr="MVO的权重"/>
          <p:cNvPicPr>
            <a:picLocks noChangeAspect="1"/>
          </p:cNvPicPr>
          <p:nvPr/>
        </p:nvPicPr>
        <p:blipFill>
          <a:blip r:embed="rId2"/>
          <a:stretch>
            <a:fillRect/>
          </a:stretch>
        </p:blipFill>
        <p:spPr>
          <a:xfrm>
            <a:off x="604520" y="1350010"/>
            <a:ext cx="8391525" cy="3043555"/>
          </a:xfrm>
          <a:prstGeom prst="rect">
            <a:avLst/>
          </a:prstGeom>
        </p:spPr>
      </p:pic>
      <p:sp>
        <p:nvSpPr>
          <p:cNvPr id="5" name="文本框 4"/>
          <p:cNvSpPr txBox="1"/>
          <p:nvPr/>
        </p:nvSpPr>
        <p:spPr>
          <a:xfrm>
            <a:off x="1141730" y="4273550"/>
            <a:ext cx="10678795" cy="2584450"/>
          </a:xfrm>
          <a:prstGeom prst="rect">
            <a:avLst/>
          </a:prstGeom>
          <a:noFill/>
        </p:spPr>
        <p:txBody>
          <a:bodyPr wrap="square" rtlCol="0">
            <a:spAutoFit/>
          </a:bodyPr>
          <a:p>
            <a:r>
              <a:rPr lang="en-US" altLang="zh-CN"/>
              <a:t>Weakness: MVO has highest returns , but has highest volatility, risk and systematic risk, which may lead to fail to makert.</a:t>
            </a:r>
            <a:endParaRPr lang="en-US" altLang="zh-CN"/>
          </a:p>
          <a:p>
            <a:endParaRPr lang="en-US" altLang="zh-CN"/>
          </a:p>
          <a:p>
            <a:r>
              <a:rPr lang="en-US" altLang="zh-CN"/>
              <a:t>Reason: Optimazation constrians do not limit weight of each stock, which makes that portofolio foucs on one stock, making portfolio risky.</a:t>
            </a:r>
            <a:endParaRPr lang="en-US" altLang="zh-CN"/>
          </a:p>
          <a:p>
            <a:endParaRPr lang="en-US" altLang="zh-CN"/>
          </a:p>
          <a:p>
            <a:r>
              <a:rPr lang="en-US" altLang="zh-CN"/>
              <a:t>Improvement: Choose more factors.</a:t>
            </a:r>
            <a:endParaRPr lang="en-US" altLang="zh-CN"/>
          </a:p>
          <a:p>
            <a:r>
              <a:rPr lang="en-US" altLang="zh-CN"/>
              <a:t>In marker strategy, we can short some stock to hedge the risk and make return higer instead of foucsing long-term stock in portfolio.	</a:t>
            </a:r>
            <a:endParaRPr lang="en-US" altLang="zh-CN"/>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1"/>
            <p:custDataLst>
              <p:tags r:id="rId1"/>
            </p:custDataLst>
          </p:nvPr>
        </p:nvSpPr>
        <p:spPr>
          <a:xfrm>
            <a:off x="2418715" y="1901190"/>
            <a:ext cx="8250555" cy="1705610"/>
          </a:xfrm>
        </p:spPr>
        <p:txBody>
          <a:bodyPr/>
          <a:lstStyle/>
          <a:p>
            <a:r>
              <a:rPr dirty="0"/>
              <a:t>Thank you!</a:t>
            </a:r>
            <a:endParaRPr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tags/tag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Lst>
</file>

<file path=ppt/tags/tag2.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3.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1*i*4"/>
  <p:tag name="KSO_WM_UNIT_LAYERLEVEL" val="1"/>
  <p:tag name="KSO_WM_TAG_VERSION" val="3.0"/>
</p:tagLst>
</file>

<file path=ppt/tags/tag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8"/>
  <p:tag name="KSO_WM_UNIT_ID" val="_1*i*8"/>
  <p:tag name="KSO_WM_UNIT_LAYERLEVEL" val="1"/>
  <p:tag name="KSO_WM_TAG_VERSION" val="3.0"/>
</p:tagLst>
</file>

<file path=ppt/tags/tag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9"/>
  <p:tag name="KSO_WM_UNIT_ID" val="_1*i*9"/>
  <p:tag name="KSO_WM_UNIT_LAYERLEVEL" val="1"/>
  <p:tag name="KSO_WM_TAG_VERSION" val="3.0"/>
</p:tagLst>
</file>

<file path=ppt/tags/tag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10"/>
  <p:tag name="KSO_WM_UNIT_ID" val="_1*i*10"/>
  <p:tag name="KSO_WM_UNIT_LAYERLEVEL" val="1"/>
  <p:tag name="KSO_WM_TAG_VERSION" val="3.0"/>
</p:tagLst>
</file>

<file path=ppt/tags/tag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12.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19.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25.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9.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30.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3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CONTENT_GROUP_TYPE" val="contentchip"/>
  <p:tag name="KSO_WM_UNIT_TYPE" val="i"/>
  <p:tag name="KSO_WM_UNIT_INDEX" val="4"/>
</p:tagLst>
</file>

<file path=ppt/tags/tag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34.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TYPE" val="i"/>
  <p:tag name="KSO_WM_UNIT_INDEX" val="1"/>
  <p:tag name="KSO_WM_UNIT_CONTENT_GROUP_TYPE" val="titlestyle"/>
</p:tagLst>
</file>

<file path=ppt/tags/tag4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47.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49.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5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TYPE" val="i"/>
  <p:tag name="KSO_WM_UNIT_INDEX" val="1"/>
  <p:tag name="KSO_WM_UNIT_CONTENT_GROUP_TYPE" val="titlestyle"/>
</p:tagLst>
</file>

<file path=ppt/tags/tag5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TYPE" val="i"/>
  <p:tag name="KSO_WM_UNIT_INDEX" val="1"/>
  <p:tag name="KSO_WM_UNIT_CONTENT_GROUP_TYPE" val="titlestyle"/>
</p:tagLst>
</file>

<file path=ppt/tags/tag5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UNIT_TYPE" val="i"/>
  <p:tag name="KSO_WM_UNIT_INDEX"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6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UNIT_TYPE" val="i"/>
  <p:tag name="KSO_WM_UNIT_INDEX"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70.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7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76.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77.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CONTENT_GROUP_TYPE" val="contentchip"/>
  <p:tag name="KSO_WM_UNIT_TYPE" val="i"/>
  <p:tag name="KSO_WM_UNIT_INDEX" val="4"/>
</p:tagLst>
</file>

<file path=ppt/tags/tag7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8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CONTENT_GROUP_TYPE" val="contentchip"/>
  <p:tag name="KSO_WM_UNIT_TYPE" val="i"/>
  <p:tag name="KSO_WM_UNIT_INDEX" val="8"/>
</p:tagLst>
</file>

<file path=ppt/tags/tag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CONTENT_GROUP_TYPE" val="contentchip"/>
  <p:tag name="KSO_WM_UNIT_TYPE" val="i"/>
  <p:tag name="KSO_WM_UNIT_INDEX" val="9"/>
</p:tagLst>
</file>

<file path=ppt/tags/tag8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0"/>
  <p:tag name="KSO_WM_UNIT_LAYERLEVEL" val="1"/>
  <p:tag name="KSO_WM_TAG_VERSION" val="3.0"/>
  <p:tag name="KSO_WM_UNIT_CONTENT_GROUP_TYPE" val="contentchip"/>
  <p:tag name="KSO_WM_UNIT_TYPE" val="i"/>
  <p:tag name="KSO_WM_UNIT_INDEX" val="10"/>
</p:tagLst>
</file>

<file path=ppt/tags/tag8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UNIT_TYPE" val="i"/>
  <p:tag name="KSO_WM_UNIT_INDEX" val="11"/>
</p:tagLst>
</file>

<file path=ppt/tags/tag86.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9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 name="KSO_WM_UNIT_CONTENT_GROUP_TYPE" val="titlestyle"/>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4"/>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314"/>
</p:tagLst>
</file>

<file path=ppt/tags/tag9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4"/>
  <p:tag name="KSO_WM_SPECIAL_SOURCE" val="bdnull"/>
  <p:tag name="KSO_WM_TEMPLATE_THUMBS_INDEX" val="1、9"/>
</p:tagLst>
</file>

<file path=ppt/tags/tag9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1*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单击添加文档标题"/>
  <p:tag name="KSO_WM_UNIT_TEXT_TYPE" val="1"/>
</p:tagLst>
</file>

<file path=ppt/tags/tag99.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1*f*1"/>
  <p:tag name="KSO_WM_TEMPLATE_CATEGORY" val="custom"/>
  <p:tag name="KSO_WM_TEMPLATE_INDEX" val="20230314"/>
  <p:tag name="KSO_WM_UNIT_LAYERLEVEL" val="1"/>
  <p:tag name="KSO_WM_TAG_VERSION" val="3.0"/>
  <p:tag name="KSO_WM_BEAUTIFY_FLAG" val="#wm#"/>
  <p:tag name="KSO_WM_UNIT_CONTENT_GROUP_TYPE" val="contentchip"/>
</p:tagLst>
</file>

<file path=ppt/tags/tag100.xml><?xml version="1.0" encoding="utf-8"?>
<p:tagLst xmlns:p="http://schemas.openxmlformats.org/presentationml/2006/main">
  <p:tag name="KSO_WM_SLIDE_ID" val="custom20230314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314"/>
  <p:tag name="KSO_WM_SLIDE_TYPE" val="title"/>
  <p:tag name="KSO_WM_SLIDE_SUBTYPE" val="pureTxt"/>
  <p:tag name="KSO_WM_SLIDE_LAYOUT" val="a_f"/>
  <p:tag name="KSO_WM_SLIDE_LAYOUT_CNT" val="1_1"/>
  <p:tag name="KSO_WM_SPECIAL_SOURCE" val="bdnull"/>
  <p:tag name="KSO_WM_TEMPLATE_THUMBS_INDEX" val="1、9"/>
  <p:tag name="KSO_WM_SLIDE_CONTENT_AREA" val="{&quot;left&quot;:&quot;173.7&quot;,&quot;top&quot;:&quot;78.5&quot;,&quot;width&quot;:&quot;702.55&quot;,&quot;height&quot;:&quot;350.15&quot;}"/>
</p:tagLst>
</file>

<file path=ppt/tags/tag10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314_4*l_h_i*1_4_1"/>
  <p:tag name="KSO_WM_TEMPLATE_CATEGORY" val="custom"/>
  <p:tag name="KSO_WM_TEMPLATE_INDEX" val="20230314"/>
  <p:tag name="KSO_WM_UNIT_LAYERLEVEL" val="1_1_1"/>
  <p:tag name="KSO_WM_TAG_VERSION" val="3.0"/>
  <p:tag name="KSO_WM_DIAGRAM_GROUP_CODE" val="l1-1"/>
  <p:tag name="KSO_WM_UNIT_TYPE" val="l_h_i"/>
  <p:tag name="KSO_WM_UNIT_INDEX" val="1_4_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0"/>
</p:tagLst>
</file>

<file path=ppt/tags/tag10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314_4*l_h_i*1_3_1"/>
  <p:tag name="KSO_WM_TEMPLATE_CATEGORY" val="custom"/>
  <p:tag name="KSO_WM_TEMPLATE_INDEX" val="20230314"/>
  <p:tag name="KSO_WM_UNIT_LAYERLEVEL" val="1_1_1"/>
  <p:tag name="KSO_WM_TAG_VERSION" val="3.0"/>
  <p:tag name="KSO_WM_DIAGRAM_GROUP_CODE" val="l1-1"/>
  <p:tag name="KSO_WM_UNIT_TYPE" val="l_h_i"/>
  <p:tag name="KSO_WM_UNIT_INDEX" val="1_3_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0"/>
</p:tagLst>
</file>

<file path=ppt/tags/tag10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314_4*l_h_i*1_2_1"/>
  <p:tag name="KSO_WM_TEMPLATE_CATEGORY" val="custom"/>
  <p:tag name="KSO_WM_TEMPLATE_INDEX" val="20230314"/>
  <p:tag name="KSO_WM_UNIT_LAYERLEVEL" val="1_1_1"/>
  <p:tag name="KSO_WM_TAG_VERSION" val="3.0"/>
  <p:tag name="KSO_WM_DIAGRAM_GROUP_CODE" val="l1-1"/>
  <p:tag name="KSO_WM_UNIT_TYPE" val="l_h_i"/>
  <p:tag name="KSO_WM_UNIT_INDEX" val="1_2_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0"/>
</p:tagLst>
</file>

<file path=ppt/tags/tag104.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4*a*1"/>
  <p:tag name="KSO_WM_TEMPLATE_CATEGORY" val="custom"/>
  <p:tag name="KSO_WM_TEMPLATE_INDEX" val="20230314"/>
  <p:tag name="KSO_WM_UNIT_LAYERLEVEL" val="1"/>
  <p:tag name="KSO_WM_TAG_VERSION" val="3.0"/>
  <p:tag name="KSO_WM_BEAUTIFY_FLAG" val="#wm#"/>
  <p:tag name="KSO_WM_DIAGRAM_GROUP_CODE" val="l1-1"/>
  <p:tag name="KSO_WM_UNIT_TEXT_FILL_FORE_SCHEMECOLOR_INDEX" val="13"/>
  <p:tag name="KSO_WM_UNIT_TEXT_FILL_TYPE" val="1"/>
  <p:tag name="KSO_WM_UNIT_USESOURCEFORMAT_APPLY" val="0"/>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custom20230314_4*l_h_i*1_1_2"/>
  <p:tag name="KSO_WM_TEMPLATE_CATEGORY" val="custom"/>
  <p:tag name="KSO_WM_TEMPLATE_INDEX" val="20230314"/>
  <p:tag name="KSO_WM_UNIT_LAYERLEVEL" val="1_1_1"/>
  <p:tag name="KSO_WM_TAG_VERSION" val="3.0"/>
  <p:tag name="KSO_WM_BEAUTIFY_FLAG" val="#wm#"/>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0"/>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custom20230314_4*l_h_i*1_2_2"/>
  <p:tag name="KSO_WM_TEMPLATE_CATEGORY" val="custom"/>
  <p:tag name="KSO_WM_TEMPLATE_INDEX" val="20230314"/>
  <p:tag name="KSO_WM_UNIT_LAYERLEVEL" val="1_1_1"/>
  <p:tag name="KSO_WM_TAG_VERSION" val="3.0"/>
  <p:tag name="KSO_WM_BEAUTIFY_FLAG" val="#wm#"/>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6"/>
  <p:tag name="KSO_WM_UNIT_FILL_TYPE" val="1"/>
  <p:tag name="KSO_WM_UNIT_TEXT_FILL_FORE_SCHEMECOLOR_INDEX" val="2"/>
  <p:tag name="KSO_WM_UNIT_TEXT_FILL_TYPE" val="1"/>
  <p:tag name="KSO_WM_UNIT_USESOURCEFORMAT_APPLY" val="0"/>
</p:tagLst>
</file>

<file path=ppt/tags/tag10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314"/>
  <p:tag name="KSO_WM_UNIT_LAYERLEVEL" val="1_1_1"/>
  <p:tag name="KSO_WM_TAG_VERSION" val="3.0"/>
  <p:tag name="KSO_WM_BEAUTIFY_FLAG" val="#wm#"/>
  <p:tag name="KSO_WM_DIAGRAM_GROUP_CODE" val="l1-1"/>
  <p:tag name="KSO_WM_UNIT_TYPE" val="l_h_a"/>
  <p:tag name="KSO_WM_UNIT_ID" val="custom20230314_4*l_h_a*1_2_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0"/>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custom20230314_4*l_h_i*1_3_2"/>
  <p:tag name="KSO_WM_TEMPLATE_CATEGORY" val="custom"/>
  <p:tag name="KSO_WM_TEMPLATE_INDEX" val="20230314"/>
  <p:tag name="KSO_WM_UNIT_LAYERLEVEL" val="1_1_1"/>
  <p:tag name="KSO_WM_TAG_VERSION" val="3.0"/>
  <p:tag name="KSO_WM_BEAUTIFY_FLAG" val="#wm#"/>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0"/>
</p:tagLst>
</file>

<file path=ppt/tags/tag10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314"/>
  <p:tag name="KSO_WM_UNIT_LAYERLEVEL" val="1_1_1"/>
  <p:tag name="KSO_WM_TAG_VERSION" val="3.0"/>
  <p:tag name="KSO_WM_BEAUTIFY_FLAG" val="#wm#"/>
  <p:tag name="KSO_WM_DIAGRAM_GROUP_CODE" val="l1-1"/>
  <p:tag name="KSO_WM_UNIT_TYPE" val="l_h_a"/>
  <p:tag name="KSO_WM_UNIT_ID" val="custom20230314_4*l_h_a*1_3_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0"/>
</p:tagLst>
</file>

<file path=ppt/tags/tag11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314"/>
  <p:tag name="KSO_WM_UNIT_LAYERLEVEL" val="1_1_1"/>
  <p:tag name="KSO_WM_TAG_VERSION" val="3.0"/>
  <p:tag name="KSO_WM_BEAUTIFY_FLAG" val="#wm#"/>
  <p:tag name="KSO_WM_DIAGRAM_GROUP_CODE" val="l1-1"/>
  <p:tag name="KSO_WM_UNIT_TYPE" val="l_h_a"/>
  <p:tag name="KSO_WM_UNIT_ID" val="custom20230314_4*l_h_a*1_4_1"/>
  <p:tag name="KSO_WM_DIAGRAM_VERSION" val="3"/>
  <p:tag name="KSO_WM_DIAGRAM_COLOR_TRICK" val="2"/>
  <p:tag name="KSO_WM_DIAGRAM_COLOR_TEXT_CAN_REMOVE" val="n"/>
  <p:tag name="KSO_WM_DIAGRAM_MAX_ITEMCNT" val="6"/>
  <p:tag name="KSO_WM_DIAGRAM_MIN_ITEMCNT" val="2"/>
  <p:tag name="KSO_WM_DIAGRAM_VIRTUALLY_FRAME" val="{&quot;height&quot;:453.8749969482422,&quot;left&quot;:334.9,&quot;top&quot;:102.47500305175781,&quot;width&quot;:41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0"/>
</p:tagLst>
</file>

<file path=ppt/tags/tag111.xml><?xml version="1.0" encoding="utf-8"?>
<p:tagLst xmlns:p="http://schemas.openxmlformats.org/presentationml/2006/main">
  <p:tag name="KSO_WM_SLIDE_ID" val="custom20230314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314"/>
  <p:tag name="KSO_WM_SLIDE_TYPE" val="contents"/>
  <p:tag name="KSO_WM_SLIDE_SUBTYPE" val="diag"/>
  <p:tag name="KSO_WM_SLIDE_LAYOUT" val="a_l"/>
  <p:tag name="KSO_WM_SLIDE_LAYOUT_CNT" val="1_1"/>
  <p:tag name="KSO_WM_SPECIAL_SOURCE" val="bdnull"/>
  <p:tag name="KSO_WM_DIAGRAM_GROUP_CODE" val="l1-1"/>
  <p:tag name="KSO_WM_SLIDE_DIAGTYPE" val="l"/>
</p:tagLst>
</file>

<file path=ppt/tags/tag112.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14_7*e*1"/>
  <p:tag name="KSO_WM_TEMPLATE_CATEGORY" val="custom"/>
  <p:tag name="KSO_WM_TEMPLATE_INDEX" val="20230314"/>
  <p:tag name="KSO_WM_UNIT_LAYERLEVEL" val="1"/>
  <p:tag name="KSO_WM_TAG_VERSION" val="3.0"/>
  <p:tag name="KSO_WM_BEAUTIFY_FLAG" val="#wm#"/>
</p:tagLst>
</file>

<file path=ppt/tags/tag1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7*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114.xml><?xml version="1.0" encoding="utf-8"?>
<p:tagLst xmlns:p="http://schemas.openxmlformats.org/presentationml/2006/main">
  <p:tag name="KSO_WM_SLIDE_ID" val="custom2023031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314"/>
  <p:tag name="KSO_WM_SLIDE_TYPE" val="sectionTitle"/>
  <p:tag name="KSO_WM_SLIDE_SUBTYPE" val="pureTxt"/>
  <p:tag name="KSO_WM_SLIDE_LAYOUT" val="a_e"/>
  <p:tag name="KSO_WM_SLIDE_LAYOUT_CNT" val="1_1"/>
  <p:tag name="KSO_WM_SPECIAL_SOURCE" val="bdnull"/>
  <p:tag name="KSO_WM_SLIDE_CONTENT_AREA" val="{&quot;left&quot;:&quot;504.35&quot;,&quot;top&quot;:&quot;139.2&quot;,&quot;width&quot;:&quot;435.7&quot;,&quot;height&quot;:&quot;210&quot;}"/>
</p:tagLst>
</file>

<file path=ppt/tags/tag11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26"/>
  <p:tag name="KSO_WM_UNIT_USESOURCEFORMAT_APPLY" val="0"/>
  <p:tag name="KSO_WM_TEMPLATE_INDEX" val="20232485"/>
  <p:tag name="KSO_WM_UNIT_ID" val="custom20232485_1*a*1"/>
  <p:tag name="KSO_WM_UNIT_TEXT_TYPE" val="1"/>
  <p:tag name="KSO_WM_UNIT_PRESET_TEXT" val="单击此处添加标题"/>
  <p:tag name="KSO_WM_UNIT_TEXT_FILL_FORE_SCHEMECOLOR_INDEX" val="13"/>
  <p:tag name="KSO_WM_UNIT_TEXT_FILL_TYPE" val="1"/>
</p:tagLst>
</file>

<file path=ppt/tags/tag116.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627.12*288.72"/>
  <p:tag name="KSO_WM_SLIDE_POSITION" val="225.1*171.6"/>
  <p:tag name="KSO_WM_SLIDE_LAYOUT" val="a_d_l"/>
  <p:tag name="KSO_WM_SLIDE_LAYOUT_CNT" val="1_1_1"/>
  <p:tag name="KSO_WM_SPECIAL_SOURCE" val="bdnull"/>
  <p:tag name="KSO_WM_DIAGRAM_GROUP_CODE" val="l1-1"/>
  <p:tag name="KSO_WM_SLIDE_DIAGTYPE" val="l"/>
  <p:tag name="KSO_WM_TEMPLATE_INDEX" val="20230314"/>
  <p:tag name="KSO_WM_TEMPLATE_SUBCATEGORY" val="0"/>
  <p:tag name="KSO_WM_SLIDE_INDEX" val="1"/>
  <p:tag name="KSO_WM_TAG_VERSION" val="3.0"/>
  <p:tag name="KSO_WM_SLIDE_ID" val="custom20232485_1"/>
  <p:tag name="KSO_WM_SLIDE_ITEM_CNT" val="2"/>
</p:tagLst>
</file>

<file path=ppt/tags/tag1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18.xml><?xml version="1.0" encoding="utf-8"?>
<p:tagLst xmlns:p="http://schemas.openxmlformats.org/presentationml/2006/main">
  <p:tag name="KSO_WM_BEAUTIFY_FLAG" val="#wm#"/>
  <p:tag name="KSO_WM_UNIT_VALUE" val="1289*91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717_1*d*1"/>
  <p:tag name="KSO_WM_TEMPLATE_CATEGORY" val="custom"/>
  <p:tag name="KSO_WM_TEMPLATE_INDEX" val="20231717"/>
  <p:tag name="KSO_WM_UNIT_LAYERLEVEL" val="1"/>
  <p:tag name="KSO_WM_TAG_VERSION" val="3.0"/>
  <p:tag name="KSO_WM_UNIT_PICTURE_SUBTYPE" val="b"/>
  <p:tag name="MH_PIC_SOURCE_TYPE" val="generate_slide_ai*{&quot;ai_type&quot;:&quot;generate_ppt&quot;,&quot;id&quot;:&quot;VCG41N1166197566&quot;}*auto_gallery_ai_v2.0.9_ONLINE*1745406590459_26.1_f75045f6e920-slide-3"/>
  <p:tag name="KSO_WM_UNIT_LINE_FORE_SCHEMECOLOR_INDEX" val="5"/>
  <p:tag name="KSO_WM_UNIT_LINE_FILL_TYPE" val="2"/>
  <p:tag name="KSO_WM_UNIT_SHADOW_SCHEMECOLOR_INDEX" val="5"/>
  <p:tag name="KSO_WM_UNIT_USESOURCEFORMAT_APPLY" val="0"/>
</p:tagLst>
</file>

<file path=ppt/tags/tag119.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left&quot;:35.35,&quot;top&quot;:108.24511475570561,&quot;width&quot;:597.5}"/>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20.xml><?xml version="1.0" encoding="utf-8"?>
<p:tagLst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left&quot;:35.35,&quot;top&quot;:108.24511475570561,&quot;width&quot;:597.5}"/>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21.xml><?xml version="1.0" encoding="utf-8"?>
<p:tagLst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1*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left&quot;:35.35,&quot;top&quot;:108.24511475570561,&quot;width&quot;:59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122.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78_1*l_h_i*1_2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left&quot;:35.35,&quot;top&quot;:108.24511475570561,&quot;width&quot;:597.5}"/>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23.xml><?xml version="1.0" encoding="utf-8"?>
<p:tagLst xmlns:p="http://schemas.openxmlformats.org/presentationml/2006/main">
  <p:tag name="KSO_WM_BEAUTIFY_FLAG" val="#wm#"/>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78_1*l_h_a*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left&quot;:35.35,&quot;top&quot;:108.24511475570561,&quot;width&quot;:597.5}"/>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124.xml><?xml version="1.0" encoding="utf-8"?>
<p:tagLst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78_1*l_h_f*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left&quot;:35.35,&quot;top&quot;:108.24511475570561,&quot;width&quot;:59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125.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5387*108.231"/>
  <p:tag name="KSO_WM_SLIDE_LAYOUT" val="a_d_l"/>
  <p:tag name="KSO_WM_SLIDE_LAYOUT_CNT" val="1_1_1"/>
  <p:tag name="KSO_WM_SPECIAL_SOURCE" val="bdnull"/>
  <p:tag name="KSO_WM_DIAGRAM_GROUP_CODE" val="l1-1"/>
  <p:tag name="KSO_WM_SLIDE_DIAGTYPE" val="l"/>
  <p:tag name="KSO_WM_TEMPLATE_INDEX" val="20230314"/>
  <p:tag name="KSO_WM_TEMPLATE_SUBCATEGORY" val="0"/>
  <p:tag name="KSO_WM_SLIDE_INDEX" val="1"/>
  <p:tag name="KSO_WM_TAG_VERSION" val="3.0"/>
  <p:tag name="KSO_WM_SLIDE_ID" val="custom20231717_1"/>
  <p:tag name="KSO_WM_SLIDE_ITEM_CNT" val="4"/>
</p:tagLst>
</file>

<file path=ppt/tags/tag126.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14_7*e*1"/>
  <p:tag name="KSO_WM_TEMPLATE_CATEGORY" val="custom"/>
  <p:tag name="KSO_WM_TEMPLATE_INDEX" val="20230314"/>
  <p:tag name="KSO_WM_UNIT_LAYERLEVEL" val="1"/>
  <p:tag name="KSO_WM_TAG_VERSION" val="3.0"/>
  <p:tag name="KSO_WM_BEAUTIFY_FLAG" val="#wm#"/>
</p:tagLst>
</file>

<file path=ppt/tags/tag12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7*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128.xml><?xml version="1.0" encoding="utf-8"?>
<p:tagLst xmlns:p="http://schemas.openxmlformats.org/presentationml/2006/main">
  <p:tag name="KSO_WM_SLIDE_ID" val="custom2023031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314"/>
  <p:tag name="KSO_WM_SLIDE_TYPE" val="sectionTitle"/>
  <p:tag name="KSO_WM_SLIDE_SUBTYPE" val="pureTxt"/>
  <p:tag name="KSO_WM_SLIDE_LAYOUT" val="a_e"/>
  <p:tag name="KSO_WM_SLIDE_LAYOUT_CNT" val="1_1"/>
  <p:tag name="KSO_WM_SPECIAL_SOURCE" val="bdnull"/>
  <p:tag name="KSO_WM_SLIDE_CONTENT_AREA" val="{&quot;left&quot;:&quot;504.35&quot;,&quot;top&quot;:&quot;139.2&quot;,&quot;width&quot;:&quot;435.7&quot;,&quot;height&quot;:&quot;210&quot;}"/>
</p:tagLst>
</file>

<file path=ppt/tags/tag129.xml><?xml version="1.0" encoding="utf-8"?>
<p:tagLst xmlns:p="http://schemas.openxmlformats.org/presentationml/2006/main">
  <p:tag name="KSO_WM_UNIT_VALUE" val="952*3384"/>
  <p:tag name="KSO_WM_UNIT_HIGHLIGHT" val="0"/>
  <p:tag name="KSO_WM_UNIT_COMPATIBLE" val="0"/>
  <p:tag name="KSO_WM_UNIT_DIAGRAM_ISNUMVISUAL" val="0"/>
  <p:tag name="KSO_WM_UNIT_DIAGRAM_ISREFERUNIT" val="0"/>
  <p:tag name="KSO_WM_UNIT_TYPE" val="d"/>
  <p:tag name="KSO_WM_UNIT_INDEX" val="1"/>
  <p:tag name="KSO_WM_UNIT_ID" val="custom20232484_1*d*1"/>
  <p:tag name="KSO_WM_TEMPLATE_CATEGORY" val="custom"/>
  <p:tag name="KSO_WM_TEMPLATE_INDEX" val="20232484"/>
  <p:tag name="KSO_WM_UNIT_LAYERLEVEL" val="1"/>
  <p:tag name="KSO_WM_TAG_VERSION" val="3.0"/>
  <p:tag name="KSO_WM_BEAUTIFY_FLAG" val="#wm#"/>
  <p:tag name="KSO_WM_DIAGRAM_GROUP_CODE" val="l1-1"/>
  <p:tag name="KSO_WM_UNIT_LINE_FORE_SCHEMECOLOR_INDEX" val="1"/>
  <p:tag name="KSO_WM_UNIT_LINE_FILL_TYPE" val="2"/>
  <p:tag name="KSO_WM_UNIT_USESOURCEFORMAT_APPLY" val="0"/>
  <p:tag name="KSO_WM_UNIT_PICTURE_SUBTYPE" val="a"/>
  <p:tag name="MH_PIC_SOURCE_TYPE" val="generate_slide_ai*{&quot;ai_type&quot;:&quot;generate_ppt&quot;,&quot;id&quot;:&quot;&quot;}*auto_ai_ai_v2.0.9_ONLINE*1745406590459_26.1_f75045f6e920-slide-8"/>
  <p:tag name="KSO_WM_UNIT_FILL_FORE_SCHEMECOLOR_INDEX" val="5"/>
  <p:tag name="KSO_WM_UNIT_FILL_TYPE" val="1"/>
</p:tagLst>
</file>

<file path=ppt/tags/tag13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2484_1*i*1"/>
  <p:tag name="KSO_WM_TEMPLATE_CATEGORY" val="custom"/>
  <p:tag name="KSO_WM_TEMPLATE_INDEX" val="20232484"/>
  <p:tag name="KSO_WM_UNIT_LAYERLEVEL" val="1"/>
  <p:tag name="KSO_WM_TAG_VERSION" val="3.0"/>
  <p:tag name="KSO_WM_UNIT_FILL_FORE_SCHEMECOLOR_INDEX" val="2"/>
  <p:tag name="KSO_WM_UNIT_FILL_TYPE" val="1"/>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13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2484_1*a*1"/>
  <p:tag name="KSO_WM_TEMPLATE_CATEGORY" val="custom"/>
  <p:tag name="KSO_WM_TEMPLATE_INDEX" val="20232484"/>
  <p:tag name="KSO_WM_UNIT_LAYERLEVEL" val="1"/>
  <p:tag name="KSO_WM_TAG_VERSION" val="3.0"/>
  <p:tag name="KSO_WM_BEAUTIFY_FLAG" val="#wm#"/>
  <p:tag name="KSO_WM_DIAGRAM_GROUP_CODE" val="l1-1"/>
  <p:tag name="KSO_WM_UNIT_USESOURCEFORMAT_APPLY" val="0"/>
  <p:tag name="KSO_WM_UNIT_PRESET_TEXT" val="单击此处添加标题"/>
  <p:tag name="KSO_WM_UNIT_TEXT_TYPE" val="1"/>
</p:tagLst>
</file>

<file path=ppt/tags/tag13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6_2*l_h_f*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58.65,&quot;left&quot;:114.25,&quot;top&quot;:271.35007874015747,&quot;width&quot;:74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单击此处输入你的项正文，请尽量言简意赅的阐述观点。"/>
  <p:tag name="KSO_WM_UNIT_USESOURCEFORMAT_APPLY" val="0"/>
</p:tagLst>
</file>

<file path=ppt/tags/tag13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2*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58.65,&quot;left&quot;:114.25,&quot;top&quot;:271.35007874015747,&quot;width&quot;:74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单击此处输入你的项正文，请尽量言简意赅的阐述观点。"/>
  <p:tag name="KSO_WM_UNIT_USESOURCEFORMAT_APPLY" val="0"/>
</p:tagLst>
</file>

<file path=ppt/tags/tag13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2*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58.65,&quot;left&quot;:114.25,&quot;top&quot;:271.35007874015747,&quot;width&quot;:74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35.xml><?xml version="1.0" encoding="utf-8"?>
<p:tagLst xmlns:p="http://schemas.openxmlformats.org/presentationml/2006/main">
  <p:tag name="KSO_WM_SLIDE_ID" val="custom20232484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0314"/>
  <p:tag name="KSO_WM_SLIDE_TYPE" val="text"/>
  <p:tag name="KSO_WM_SLIDE_SUBTYPE" val="picTxt"/>
  <p:tag name="KSO_WM_SLIDE_SIZE" val="746*95.95"/>
  <p:tag name="KSO_WM_SLIDE_POSITION" val="120.25*376.775"/>
  <p:tag name="KSO_WM_SLIDE_LAYOUT" val="a_d_l"/>
  <p:tag name="KSO_WM_SLIDE_LAYOUT_CNT" val="1_1_1"/>
  <p:tag name="KSO_WM_SPECIAL_SOURCE" val="bdnull"/>
  <p:tag name="KSO_WM_DIAGRAM_GROUP_CODE" val="l1-1"/>
  <p:tag name="KSO_WM_SLIDE_DIAGTYPE" val="l"/>
</p:tagLst>
</file>

<file path=ppt/tags/tag13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460_1*a*1"/>
  <p:tag name="KSO_WM_TEMPLATE_CATEGORY" val="custom"/>
  <p:tag name="KSO_WM_TEMPLATE_INDEX" val="2023446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37.xml><?xml version="1.0" encoding="utf-8"?>
<p:tagLst xmlns:p="http://schemas.openxmlformats.org/presentationml/2006/main">
  <p:tag name="KSO_WM_SLIDE_ID" val="custom2023446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0314"/>
  <p:tag name="KSO_WM_SLIDE_TYPE" val="text"/>
  <p:tag name="KSO_WM_SLIDE_SUBTYPE" val="picTxt"/>
  <p:tag name="KSO_WM_SLIDE_SIZE" val="904.564*328.446"/>
  <p:tag name="KSO_WM_SLIDE_POSITION" val="-7.87402e-05*139.181"/>
  <p:tag name="KSO_WM_SLIDE_LAYOUT" val="a_l"/>
  <p:tag name="KSO_WM_SLIDE_LAYOUT_CNT" val="1_1"/>
  <p:tag name="KSO_WM_SPECIAL_SOURCE" val="bdnull"/>
  <p:tag name="KSO_WM_DIAGRAM_GROUP_CODE" val="l1-1"/>
  <p:tag name="KSO_WM_SLIDE_DIAGTYPE" val="l"/>
</p:tagLst>
</file>

<file path=ppt/tags/tag13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460_1*a*1"/>
  <p:tag name="KSO_WM_TEMPLATE_CATEGORY" val="custom"/>
  <p:tag name="KSO_WM_TEMPLATE_INDEX" val="2023446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39.xml><?xml version="1.0" encoding="utf-8"?>
<p:tagLst xmlns:p="http://schemas.openxmlformats.org/presentationml/2006/main">
  <p:tag name="KSO_WM_SLIDE_ID" val="custom2023446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0314"/>
  <p:tag name="KSO_WM_SLIDE_TYPE" val="text"/>
  <p:tag name="KSO_WM_SLIDE_SUBTYPE" val="picTxt"/>
  <p:tag name="KSO_WM_SLIDE_SIZE" val="904.564*328.446"/>
  <p:tag name="KSO_WM_SLIDE_POSITION" val="-7.87402e-05*139.181"/>
  <p:tag name="KSO_WM_SLIDE_LAYOUT" val="a_l"/>
  <p:tag name="KSO_WM_SLIDE_LAYOUT_CNT" val="1_1"/>
  <p:tag name="KSO_WM_SPECIAL_SOURCE" val="bdnull"/>
  <p:tag name="KSO_WM_DIAGRAM_GROUP_CODE" val="l1-1"/>
  <p:tag name="KSO_WM_SLIDE_DIAGTYPE" val="l"/>
</p:tagLst>
</file>

<file path=ppt/tags/tag14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460_1*a*1"/>
  <p:tag name="KSO_WM_TEMPLATE_CATEGORY" val="custom"/>
  <p:tag name="KSO_WM_TEMPLATE_INDEX" val="2023446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41.xml><?xml version="1.0" encoding="utf-8"?>
<p:tagLst xmlns:p="http://schemas.openxmlformats.org/presentationml/2006/main">
  <p:tag name="KSO_WM_SLIDE_ID" val="custom2023446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0314"/>
  <p:tag name="KSO_WM_SLIDE_TYPE" val="text"/>
  <p:tag name="KSO_WM_SLIDE_SUBTYPE" val="picTxt"/>
  <p:tag name="KSO_WM_SLIDE_SIZE" val="904.564*328.446"/>
  <p:tag name="KSO_WM_SLIDE_POSITION" val="-7.87402e-05*139.181"/>
  <p:tag name="KSO_WM_SLIDE_LAYOUT" val="a_l"/>
  <p:tag name="KSO_WM_SLIDE_LAYOUT_CNT" val="1_1"/>
  <p:tag name="KSO_WM_SPECIAL_SOURCE" val="bdnull"/>
  <p:tag name="KSO_WM_DIAGRAM_GROUP_CODE" val="l1-1"/>
  <p:tag name="KSO_WM_SLIDE_DIAGTYPE" val="l"/>
</p:tagLst>
</file>

<file path=ppt/tags/tag14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460_1*a*1"/>
  <p:tag name="KSO_WM_TEMPLATE_CATEGORY" val="custom"/>
  <p:tag name="KSO_WM_TEMPLATE_INDEX" val="2023446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43.xml><?xml version="1.0" encoding="utf-8"?>
<p:tagLst xmlns:p="http://schemas.openxmlformats.org/presentationml/2006/main">
  <p:tag name="KSO_WM_SLIDE_ID" val="custom2023446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0314"/>
  <p:tag name="KSO_WM_SLIDE_TYPE" val="text"/>
  <p:tag name="KSO_WM_SLIDE_SUBTYPE" val="picTxt"/>
  <p:tag name="KSO_WM_SLIDE_SIZE" val="904.564*328.446"/>
  <p:tag name="KSO_WM_SLIDE_POSITION" val="-7.87402e-05*139.181"/>
  <p:tag name="KSO_WM_SLIDE_LAYOUT" val="a_l"/>
  <p:tag name="KSO_WM_SLIDE_LAYOUT_CNT" val="1_1"/>
  <p:tag name="KSO_WM_SPECIAL_SOURCE" val="bdnull"/>
  <p:tag name="KSO_WM_DIAGRAM_GROUP_CODE" val="l1-1"/>
  <p:tag name="KSO_WM_SLIDE_DIAGTYPE" val="l"/>
</p:tagLst>
</file>

<file path=ppt/tags/tag14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460_1*a*1"/>
  <p:tag name="KSO_WM_TEMPLATE_CATEGORY" val="custom"/>
  <p:tag name="KSO_WM_TEMPLATE_INDEX" val="2023446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45.xml><?xml version="1.0" encoding="utf-8"?>
<p:tagLst xmlns:p="http://schemas.openxmlformats.org/presentationml/2006/main">
  <p:tag name="KSO_WM_SLIDE_ID" val="custom2023446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0314"/>
  <p:tag name="KSO_WM_SLIDE_TYPE" val="text"/>
  <p:tag name="KSO_WM_SLIDE_SUBTYPE" val="picTxt"/>
  <p:tag name="KSO_WM_SLIDE_SIZE" val="904.564*328.446"/>
  <p:tag name="KSO_WM_SLIDE_POSITION" val="-7.87402e-05*139.181"/>
  <p:tag name="KSO_WM_SLIDE_LAYOUT" val="a_l"/>
  <p:tag name="KSO_WM_SLIDE_LAYOUT_CNT" val="1_1"/>
  <p:tag name="KSO_WM_SPECIAL_SOURCE" val="bdnull"/>
  <p:tag name="KSO_WM_DIAGRAM_GROUP_CODE" val="l1-1"/>
  <p:tag name="KSO_WM_SLIDE_DIAGTYPE" val="l"/>
</p:tagLst>
</file>

<file path=ppt/tags/tag14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147.xml><?xml version="1.0" encoding="utf-8"?>
<p:tagLst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0314"/>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14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460_1*a*1"/>
  <p:tag name="KSO_WM_TEMPLATE_CATEGORY" val="custom"/>
  <p:tag name="KSO_WM_TEMPLATE_INDEX" val="2023446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49.xml><?xml version="1.0" encoding="utf-8"?>
<p:tagLst xmlns:p="http://schemas.openxmlformats.org/presentationml/2006/main">
  <p:tag name="KSO_WM_SLIDE_ID" val="custom2023446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0314"/>
  <p:tag name="KSO_WM_SLIDE_TYPE" val="text"/>
  <p:tag name="KSO_WM_SLIDE_SUBTYPE" val="picTxt"/>
  <p:tag name="KSO_WM_SLIDE_SIZE" val="904.564*328.446"/>
  <p:tag name="KSO_WM_SLIDE_POSITION" val="-7.87402e-05*139.181"/>
  <p:tag name="KSO_WM_SLIDE_LAYOUT" val="a_l"/>
  <p:tag name="KSO_WM_SLIDE_LAYOUT_CNT" val="1_1"/>
  <p:tag name="KSO_WM_SPECIAL_SOURCE" val="bdnull"/>
  <p:tag name="KSO_WM_DIAGRAM_GROUP_CODE" val="l1-1"/>
  <p:tag name="KSO_WM_SLIDE_DIAGTYPE" val="l"/>
</p:tagLst>
</file>

<file path=ppt/tags/tag150.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TEMPLATE_INDEX" val="20231930"/>
  <p:tag name="KSO_WM_UNIT_ID" val="custom20231930_1*a*1"/>
  <p:tag name="KSO_WM_UNIT_TEXT_TYPE" val="1"/>
  <p:tag name="KSO_WM_DIAGRAM_GROUP_CODE" val="l1-1"/>
  <p:tag name="KSO_WM_UNIT_PRESET_TEXT" val="单击此处添加标题"/>
  <p:tag name="KSO_WM_UNIT_TEXT_FILL_FORE_SCHEMECOLOR_INDEX" val="13"/>
  <p:tag name="KSO_WM_UNIT_TEXT_FILL_TYPE" val="1"/>
  <p:tag name="KSO_WM_UNIT_USESOURCEFORMAT_APPLY" val="0"/>
</p:tagLst>
</file>

<file path=ppt/tags/tag15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3*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89.30000000000018,&quot;left&quot;:48.95,&quot;top&quot;:386.1750393700787,&quot;width&quot;:817.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5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3*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89.30000000000018,&quot;left&quot;:48.95,&quot;top&quot;:386.1750393700787,&quot;width&quot;:817.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5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76_3*l_h_f*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89.30000000000018,&quot;left&quot;:48.95,&quot;top&quot;:386.1750393700787,&quot;width&quot;:817.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5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76_3*l_h_a*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89.30000000000018,&quot;left&quot;:48.95,&quot;top&quot;:386.1750393700787,&quot;width&quot;:817.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55.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46*95.95"/>
  <p:tag name="KSO_WM_SLIDE_POSITION" val="54.8*410.65"/>
  <p:tag name="KSO_WM_SLIDE_LAYOUT" val="a_d_l"/>
  <p:tag name="KSO_WM_SLIDE_LAYOUT_CNT" val="1_1_1"/>
  <p:tag name="KSO_WM_SPECIAL_SOURCE" val="bdnull"/>
  <p:tag name="KSO_WM_TEMPLATE_INDEX" val="20230314"/>
  <p:tag name="KSO_WM_TEMPLATE_SUBCATEGORY" val="0"/>
  <p:tag name="KSO_WM_SLIDE_INDEX" val="1"/>
  <p:tag name="KSO_WM_TAG_VERSION" val="3.0"/>
  <p:tag name="KSO_WM_SLIDE_ID" val="custom20231930_1"/>
  <p:tag name="KSO_WM_SLIDE_ITEM_CNT" val="2"/>
  <p:tag name="KSO_WM_DIAGRAM_GROUP_CODE" val="l1-1"/>
  <p:tag name="KSO_WM_SLIDE_DIAGTYPE" val="l"/>
</p:tagLst>
</file>

<file path=ppt/tags/tag156.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TEMPLATE_INDEX" val="20231930"/>
  <p:tag name="KSO_WM_UNIT_ID" val="custom20231930_1*a*1"/>
  <p:tag name="KSO_WM_UNIT_TEXT_TYPE" val="1"/>
  <p:tag name="KSO_WM_DIAGRAM_GROUP_CODE" val="l1-1"/>
  <p:tag name="KSO_WM_UNIT_PRESET_TEXT" val="单击此处添加标题"/>
  <p:tag name="KSO_WM_UNIT_TEXT_FILL_FORE_SCHEMECOLOR_INDEX" val="13"/>
  <p:tag name="KSO_WM_UNIT_TEXT_FILL_TYPE" val="1"/>
  <p:tag name="KSO_WM_UNIT_USESOURCEFORMAT_APPLY" val="0"/>
</p:tagLst>
</file>

<file path=ppt/tags/tag157.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46*95.95"/>
  <p:tag name="KSO_WM_SLIDE_POSITION" val="54.8*410.65"/>
  <p:tag name="KSO_WM_SLIDE_LAYOUT" val="a_d_l"/>
  <p:tag name="KSO_WM_SLIDE_LAYOUT_CNT" val="1_1_1"/>
  <p:tag name="KSO_WM_SPECIAL_SOURCE" val="bdnull"/>
  <p:tag name="KSO_WM_TEMPLATE_INDEX" val="20230314"/>
  <p:tag name="KSO_WM_TEMPLATE_SUBCATEGORY" val="0"/>
  <p:tag name="KSO_WM_SLIDE_INDEX" val="1"/>
  <p:tag name="KSO_WM_TAG_VERSION" val="3.0"/>
  <p:tag name="KSO_WM_SLIDE_ID" val="custom20231930_1"/>
  <p:tag name="KSO_WM_SLIDE_ITEM_CNT" val="2"/>
  <p:tag name="KSO_WM_DIAGRAM_GROUP_CODE" val="l1-1"/>
  <p:tag name="KSO_WM_SLIDE_DIAGTYPE" val="l"/>
</p:tagLst>
</file>

<file path=ppt/tags/tag158.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314_7*e*1"/>
  <p:tag name="KSO_WM_TEMPLATE_CATEGORY" val="custom"/>
  <p:tag name="KSO_WM_TEMPLATE_INDEX" val="20230314"/>
  <p:tag name="KSO_WM_UNIT_LAYERLEVEL" val="1"/>
  <p:tag name="KSO_WM_TAG_VERSION" val="3.0"/>
  <p:tag name="KSO_WM_BEAUTIFY_FLAG" val="#wm#"/>
</p:tagLst>
</file>

<file path=ppt/tags/tag1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7*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160.xml><?xml version="1.0" encoding="utf-8"?>
<p:tagLst xmlns:p="http://schemas.openxmlformats.org/presentationml/2006/main">
  <p:tag name="KSO_WM_SLIDE_ID" val="custom2023031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314"/>
  <p:tag name="KSO_WM_SLIDE_TYPE" val="sectionTitle"/>
  <p:tag name="KSO_WM_SLIDE_SUBTYPE" val="pureTxt"/>
  <p:tag name="KSO_WM_SLIDE_LAYOUT" val="a_e"/>
  <p:tag name="KSO_WM_SLIDE_LAYOUT_CNT" val="1_1"/>
  <p:tag name="KSO_WM_SPECIAL_SOURCE" val="bdnull"/>
  <p:tag name="KSO_WM_SLIDE_CONTENT_AREA" val="{&quot;left&quot;:&quot;504.35&quot;,&quot;top&quot;:&quot;139.2&quot;,&quot;width&quot;:&quot;435.7&quot;,&quot;height&quot;:&quot;210&quot;}"/>
</p:tagLst>
</file>

<file path=ppt/tags/tag161.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0"/>
  <p:tag name="KSO_WM_TEMPLATE_INDEX" val="20232404"/>
  <p:tag name="KSO_WM_UNIT_ID" val="custom20232404_1*a*1"/>
  <p:tag name="KSO_WM_UNIT_TEXT_TYPE" val="1"/>
  <p:tag name="KSO_WM_UNIT_PRESET_TEXT" val="单击此处添加标题"/>
</p:tagLst>
</file>

<file path=ppt/tags/tag1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21_1*l_h_f*1_1_1"/>
  <p:tag name="KSO_WM_TEMPLATE_CATEGORY" val="diagram"/>
  <p:tag name="KSO_WM_TEMPLATE_INDEX" val="2023332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3.37274169921875,&quot;left&quot;:129.82866141732285,&quot;top&quot;:126.00410159133553,&quot;width&quot;:556.88842604269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TEXT_FILL_FORE_SCHEMECOLOR_INDEX" val="1"/>
  <p:tag name="KSO_WM_UNIT_TEXT_FILL_TYPE" val="1"/>
  <p:tag name="KSO_WM_UNIT_PRESET_TEXT" val="单击此处添加文本具体内容，简明扼要地阐述您的观点根据需要可酌情增减文字，单击此处添加内容简明扼要地阐述您的观点。"/>
  <p:tag name="KSO_WM_UNIT_USESOURCEFORMAT_APPLY" val="0"/>
</p:tagLst>
</file>

<file path=ppt/tags/tag16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21_1*l_h_a*1_2_1"/>
  <p:tag name="KSO_WM_TEMPLATE_CATEGORY" val="diagram"/>
  <p:tag name="KSO_WM_TEMPLATE_INDEX" val="20233321"/>
  <p:tag name="KSO_WM_UNIT_LAYERLEVEL" val="1_1_1"/>
  <p:tag name="KSO_WM_TAG_VERSION" val="3.0"/>
  <p:tag name="KSO_WM_DIAGRAM_MAX_ITEMCNT" val="4"/>
  <p:tag name="KSO_WM_DIAGRAM_MIN_ITEMCNT" val="2"/>
  <p:tag name="KSO_WM_DIAGRAM_VIRTUALLY_FRAME" val="{&quot;height&quot;:363.37274169921875,&quot;left&quot;:129.82866141732285,&quot;top&quot;:126.00410159133553,&quot;width&quot;:556.888426042691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FILL_TYPE" val="1"/>
  <p:tag name="KSO_WM_UNIT_FILL_FORE_SCHEMECOLOR_INDEX" val="5"/>
  <p:tag name="KSO_WM_UNIT_FILL_FORE_SCHEMECOLOR_INDEX_BRIGHTNESS" val="0"/>
  <p:tag name="KSO_WM_UNIT_PRESET_TEXT" val="添加标题"/>
  <p:tag name="KSO_WM_UNIT_USESOURCEFORMAT_APPLY" val="0"/>
</p:tagLst>
</file>

<file path=ppt/tags/tag1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21_1*l_h_f*1_2_1"/>
  <p:tag name="KSO_WM_TEMPLATE_CATEGORY" val="diagram"/>
  <p:tag name="KSO_WM_TEMPLATE_INDEX" val="2023332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3.37274169921875,&quot;left&quot;:129.82866141732285,&quot;top&quot;:126.00410159133553,&quot;width&quot;:556.888426042691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TEXT_FILL_FORE_SCHEMECOLOR_INDEX" val="1"/>
  <p:tag name="KSO_WM_UNIT_TEXT_FILL_TYPE" val="1"/>
  <p:tag name="KSO_WM_UNIT_PRESET_TEXT" val="单击此处添加文本具体内容，简明扼要地阐述您的观点根据需要可酌情增减文字，单击此处添加内容简明扼要地阐述您的观点。"/>
  <p:tag name="KSO_WM_UNIT_USESOURCEFORMAT_APPLY" val="0"/>
</p:tagLst>
</file>

<file path=ppt/tags/tag165.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LAYOUT" val="a_d_l"/>
  <p:tag name="KSO_WM_SLIDE_LAYOUT_CNT" val="1_1_1"/>
  <p:tag name="KSO_WM_SPECIAL_SOURCE" val="bdnull"/>
  <p:tag name="KSO_WM_SLIDE_TYPE" val="text"/>
  <p:tag name="KSO_WM_SLIDE_SIZE" val="411.56*333.516"/>
  <p:tag name="KSO_WM_SLIDE_POSITION" val="489.895*159.674"/>
  <p:tag name="KSO_WM_SLIDE_SUBTYPE" val="picTxt"/>
  <p:tag name="KSO_WM_DIAGRAM_GROUP_CODE" val="l1-1"/>
  <p:tag name="KSO_WM_SLIDE_DIAGTYPE" val="l"/>
  <p:tag name="KSO_WM_SLIDE_LAYOUT_NAME" val="仅标题"/>
  <p:tag name="KSO_WM_TEMPLATE_INDEX" val="20230314"/>
  <p:tag name="KSO_WM_TEMPLATE_SUBCATEGORY" val="0"/>
  <p:tag name="KSO_WM_SLIDE_INDEX" val="1"/>
  <p:tag name="KSO_WM_TAG_VERSION" val="3.0"/>
  <p:tag name="KSO_WM_SLIDE_ID" val="custom20232404_1"/>
  <p:tag name="KSO_WM_SLIDE_ITEM_CNT" val="3"/>
</p:tagLst>
</file>

<file path=ppt/tags/tag16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315_2*a*1"/>
  <p:tag name="KSO_WM_TEMPLATE_CATEGORY" val="diagram"/>
  <p:tag name="KSO_WM_TEMPLATE_INDEX" val="20233315"/>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67.xml><?xml version="1.0" encoding="utf-8"?>
<p:tagLst xmlns:p="http://schemas.openxmlformats.org/presentationml/2006/main">
  <p:tag name="KSO_WM_SLIDE_ID" val="diagram20233315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custom"/>
  <p:tag name="KSO_WM_TEMPLATE_INDEX" val="20230314"/>
  <p:tag name="KSO_WM_SLIDE_TYPE" val="text"/>
  <p:tag name="KSO_WM_SLIDE_SUBTYPE" val="diag"/>
  <p:tag name="KSO_WM_SLIDE_SIZE" val="850.394*297.555"/>
  <p:tag name="KSO_WM_SLIDE_POSITION" val="54.8032*139.28"/>
  <p:tag name="KSO_WM_SLIDE_LAYOUT" val="a_l"/>
  <p:tag name="KSO_WM_SLIDE_LAYOUT_CNT" val="1_1"/>
  <p:tag name="KSO_WM_SPECIAL_SOURCE" val="bdnull"/>
  <p:tag name="KSO_WM_DIAGRAM_GROUP_CODE" val="l1-1"/>
  <p:tag name="KSO_WM_SLIDE_DIAGTYPE" val="l"/>
</p:tagLst>
</file>

<file path=ppt/tags/tag168.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0314_9*a*1"/>
  <p:tag name="KSO_WM_TEMPLATE_CATEGORY" val="custom"/>
  <p:tag name="KSO_WM_TEMPLATE_INDEX" val="20230314"/>
  <p:tag name="KSO_WM_UNIT_LAYERLEVEL" val="1"/>
  <p:tag name="KSO_WM_TAG_VERSION" val="3.0"/>
  <p:tag name="KSO_WM_BEAUTIFY_FLAG" val="#wm#"/>
</p:tagLst>
</file>

<file path=ppt/tags/tag169.xml><?xml version="1.0" encoding="utf-8"?>
<p:tagLst xmlns:p="http://schemas.openxmlformats.org/presentationml/2006/main">
  <p:tag name="KSO_WM_SLIDE_ID" val="custom20230314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314"/>
  <p:tag name="KSO_WM_SLIDE_TYPE" val="endPage"/>
  <p:tag name="KSO_WM_SLIDE_SUBTYPE" val="pureTxt"/>
  <p:tag name="KSO_WM_SLIDE_LAYOUT" val="a_f"/>
  <p:tag name="KSO_WM_SLIDE_LAYOUT_CNT" val="1_1"/>
  <p:tag name="KSO_WM_SPECIAL_SOURCE" val="bdnull"/>
  <p:tag name="KSO_WM_SLIDE_CONTENT_AREA" val="{&quot;left&quot;:&quot;173.7&quot;,&quot;top&quot;:&quot;78.5&quot;,&quot;width&quot;:&quot;702.55&quot;,&quot;height&quot;:&quot;350.15&quot;}"/>
</p:tagLst>
</file>

<file path=ppt/tags/tag170.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
      <a:dk1>
        <a:srgbClr val="000000"/>
      </a:dk1>
      <a:lt1>
        <a:srgbClr val="FFFFFF"/>
      </a:lt1>
      <a:dk2>
        <a:srgbClr val="011163"/>
      </a:dk2>
      <a:lt2>
        <a:srgbClr val="FFFFFF"/>
      </a:lt2>
      <a:accent1>
        <a:srgbClr val="4864FC"/>
      </a:accent1>
      <a:accent2>
        <a:srgbClr val="6C5EDE"/>
      </a:accent2>
      <a:accent3>
        <a:srgbClr val="9059BF"/>
      </a:accent3>
      <a:accent4>
        <a:srgbClr val="B453A1"/>
      </a:accent4>
      <a:accent5>
        <a:srgbClr val="D84E82"/>
      </a:accent5>
      <a:accent6>
        <a:srgbClr val="FC4864"/>
      </a:accent6>
      <a:hlink>
        <a:srgbClr val="0563C1"/>
      </a:hlink>
      <a:folHlink>
        <a:srgbClr val="954D72"/>
      </a:folHlink>
    </a:clrScheme>
    <a:fontScheme name="自定义 18">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6829</Words>
  <Application>WPS 演示</Application>
  <PresentationFormat>宽屏</PresentationFormat>
  <Paragraphs>192</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20</vt:i4>
      </vt:variant>
    </vt:vector>
  </HeadingPairs>
  <TitlesOfParts>
    <vt:vector size="33" baseType="lpstr">
      <vt:lpstr>Arial</vt:lpstr>
      <vt:lpstr>宋体</vt:lpstr>
      <vt:lpstr>Wingdings</vt:lpstr>
      <vt:lpstr>MiSans Normal</vt:lpstr>
      <vt:lpstr>Wingdings</vt:lpstr>
      <vt:lpstr>MiSans Heavy</vt:lpstr>
      <vt:lpstr>微软雅黑</vt:lpstr>
      <vt:lpstr>Arial Unicode MS</vt:lpstr>
      <vt:lpstr>Calibri</vt:lpstr>
      <vt:lpstr>MiSans Normal</vt:lpstr>
      <vt:lpstr>Segoe Print</vt:lpstr>
      <vt:lpstr>WPS</vt:lpstr>
      <vt:lpstr>Office 主题</vt:lpstr>
      <vt:lpstr>Title: Portfolio Optimization, Risk Analysis and Backtesting </vt:lpstr>
      <vt:lpstr>Table of contents</vt:lpstr>
      <vt:lpstr>Portfolio Risk Analysis (Latest Long-Term Portfolio)</vt:lpstr>
      <vt:lpstr>VaR Analysis (Historical vs. Normal Model)</vt:lpstr>
      <vt:lpstr> Factor Model and Risk Forecasting</vt:lpstr>
      <vt:lpstr>Part 2: Portfolio Construction Backtesting</vt:lpstr>
      <vt:lpstr>Backtest Strategy Design</vt:lpstr>
      <vt:lpstr>Historical Performance Comparison </vt:lpstr>
      <vt:lpstr>Historical Performance Comparison</vt:lpstr>
      <vt:lpstr>Risk-Adjusted Returns (Sharpe Ratio)</vt:lpstr>
      <vt:lpstr>Value at Risk (Historical and Normal Dis.)</vt:lpstr>
      <vt:lpstr>Min TE Performance  </vt:lpstr>
      <vt:lpstr>Total Risk and Tracking Error Dynamics</vt:lpstr>
      <vt:lpstr>Cumulative Returns</vt:lpstr>
      <vt:lpstr>Historical Risk Decomposition</vt:lpstr>
      <vt:lpstr>Historical Risk Decomposition</vt:lpstr>
      <vt:lpstr>Part 3: Conclusion and weakness</vt:lpstr>
      <vt:lpstr>Conclusion</vt:lpstr>
      <vt:lpstr>Weakness and improvement</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wxx</dc:creator>
  <cp:lastModifiedBy>Administrator</cp:lastModifiedBy>
  <cp:revision>13</cp:revision>
  <dcterms:created xsi:type="dcterms:W3CDTF">2023-08-09T12:44:00Z</dcterms:created>
  <dcterms:modified xsi:type="dcterms:W3CDTF">2025-04-24T10:06:27Z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2052-11.1.0.9021</vt:lpwstr>
  </property>
</Properties>
</file>