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9" r:id="rId15"/>
    <p:sldId id="270" r:id="rId16"/>
    <p:sldId id="27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524000" y="224473"/>
            <a:ext cx="9144000" cy="2387600"/>
          </a:xfrm>
        </p:spPr>
        <p:txBody>
          <a:bodyPr>
            <a:normAutofit fontScale="90000"/>
          </a:bodyPr>
          <a:p>
            <a:r>
              <a:rPr lang="en-US" altLang="zh-CN"/>
              <a:t>Singal Factor-Based Investment Strategy</a:t>
            </a:r>
            <a:r>
              <a:rPr lang="en-US" altLang="zh-CN">
                <a:sym typeface="+mn-ea"/>
              </a:rPr>
              <a:t> of S%P 500 index</a:t>
            </a:r>
            <a:endParaRPr lang="en-US" altLang="zh-CN"/>
          </a:p>
        </p:txBody>
      </p:sp>
      <p:sp>
        <p:nvSpPr>
          <p:cNvPr id="3" name="副标题 2"/>
          <p:cNvSpPr>
            <a:spLocks noGrp="1"/>
          </p:cNvSpPr>
          <p:nvPr>
            <p:ph type="subTitle" idx="1"/>
          </p:nvPr>
        </p:nvSpPr>
        <p:spPr>
          <a:xfrm>
            <a:off x="1174750" y="3602038"/>
            <a:ext cx="9144000" cy="1655762"/>
          </a:xfrm>
        </p:spPr>
        <p:txBody>
          <a:bodyPr/>
          <a:p>
            <a:pPr indent="457200" algn="ctr"/>
            <a:r>
              <a:rPr lang="en-US" altLang="zh-CN"/>
              <a:t>Group 15</a:t>
            </a:r>
            <a:endParaRPr lang="en-US" altLang="zh-CN"/>
          </a:p>
          <a:p>
            <a:pPr indent="457200" algn="ctr"/>
            <a:r>
              <a:rPr lang="en-US" altLang="zh-CN"/>
              <a:t>Presenter : SUN Yuan</a:t>
            </a:r>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Introduction</a:t>
            </a:r>
            <a:endParaRPr lang="en-US" altLang="zh-CN"/>
          </a:p>
        </p:txBody>
      </p:sp>
      <p:sp>
        <p:nvSpPr>
          <p:cNvPr id="3" name="内容占位符 2"/>
          <p:cNvSpPr>
            <a:spLocks noGrp="1"/>
          </p:cNvSpPr>
          <p:nvPr>
            <p:ph idx="1"/>
          </p:nvPr>
        </p:nvSpPr>
        <p:spPr/>
        <p:txBody>
          <a:bodyPr>
            <a:normAutofit lnSpcReduction="20000"/>
          </a:bodyPr>
          <a:p>
            <a:pPr algn="just"/>
            <a:r>
              <a:rPr lang="en-US" altLang="zh-CN" b="1"/>
              <a:t>Definition of Factor-Based Investing</a:t>
            </a:r>
            <a:r>
              <a:rPr lang="en-US" altLang="zh-CN"/>
              <a:t>:Factor-based investing refers to the strategy of using specific publicly available factors (or attributes) to explain asset returns and construct portfolios aiming to achieve excess returns. These factors include value, momentum, size, and quality.</a:t>
            </a:r>
            <a:r>
              <a:rPr lang="en-US" altLang="zh-CN">
                <a:sym typeface="+mn-ea"/>
              </a:rPr>
              <a:t>We chooose momentum since It is easy to understand, implement, and is often used in trading strategies in the real market. We can use the past 12 months' returns as factors and test their ability to predict the returns of the next 1 month.</a:t>
            </a:r>
            <a:endParaRPr lang="en-US" altLang="zh-CN">
              <a:sym typeface="+mn-ea"/>
            </a:endParaRPr>
          </a:p>
          <a:p>
            <a:pPr algn="just"/>
            <a:endParaRPr lang="en-US" altLang="zh-CN"/>
          </a:p>
          <a:p>
            <a:pPr algn="just"/>
            <a:r>
              <a:rPr lang="en-US" altLang="zh-CN"/>
              <a:t>I</a:t>
            </a:r>
            <a:r>
              <a:rPr lang="en-US" altLang="zh-CN" b="1"/>
              <a:t>mportance in Asset Management</a:t>
            </a:r>
            <a:r>
              <a:rPr lang="en-US" altLang="zh-CN"/>
              <a:t>: Factor-based investing strategies provide a systematic approach to identifying and capturing market opportunities through quantitative analysis, aiming to enhance risk-adjusted returns and reduce subjectivity in the investment process.</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Data Description</a:t>
            </a:r>
            <a:endParaRPr lang="en-US" altLang="zh-CN"/>
          </a:p>
        </p:txBody>
      </p:sp>
      <p:sp>
        <p:nvSpPr>
          <p:cNvPr id="3" name="内容占位符 2"/>
          <p:cNvSpPr>
            <a:spLocks noGrp="1"/>
          </p:cNvSpPr>
          <p:nvPr>
            <p:ph idx="1"/>
          </p:nvPr>
        </p:nvSpPr>
        <p:spPr>
          <a:xfrm>
            <a:off x="838200" y="1825625"/>
            <a:ext cx="11039475" cy="4351655"/>
          </a:xfrm>
        </p:spPr>
        <p:txBody>
          <a:bodyPr/>
          <a:p>
            <a:pPr algn="just"/>
            <a:r>
              <a:rPr lang="en-US" altLang="zh-CN" b="1"/>
              <a:t>Data Sources</a:t>
            </a:r>
            <a:r>
              <a:rPr lang="en-US" altLang="zh-CN"/>
              <a:t>: S&amp;P 500 historical price data from 2019-2024 is sourced from Yahoo Finance, with fundamental data including open, high,low, cloesed price and volume with adjusted price.</a:t>
            </a:r>
            <a:endParaRPr lang="en-US" altLang="zh-CN"/>
          </a:p>
          <a:p>
            <a:pPr algn="just"/>
            <a:endParaRPr lang="en-US" altLang="zh-CN"/>
          </a:p>
          <a:p>
            <a:pPr marL="0" indent="0" algn="just">
              <a:buNone/>
            </a:pPr>
            <a:endParaRPr lang="en-US" altLang="zh-CN"/>
          </a:p>
          <a:p>
            <a:pPr algn="just"/>
            <a:r>
              <a:rPr lang="en-US" altLang="zh-CN" b="1"/>
              <a:t>Data Preprocessing</a:t>
            </a:r>
            <a:r>
              <a:rPr lang="en-US" altLang="zh-CN"/>
              <a:t>:Missing values are handled using forward filling or interpolation methods to ensure data continuity and completeness.Data normalization is performed to ensure comparability across different periods.</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Key indicators</a:t>
            </a:r>
            <a:endParaRPr lang="en-US" altLang="zh-CN"/>
          </a:p>
        </p:txBody>
      </p:sp>
      <p:sp>
        <p:nvSpPr>
          <p:cNvPr id="3" name="内容占位符 2"/>
          <p:cNvSpPr>
            <a:spLocks noGrp="1"/>
          </p:cNvSpPr>
          <p:nvPr>
            <p:ph idx="1"/>
          </p:nvPr>
        </p:nvSpPr>
        <p:spPr/>
        <p:txBody>
          <a:bodyPr/>
          <a:p>
            <a:pPr algn="l"/>
            <a:r>
              <a:rPr lang="en-US" altLang="zh-CN">
                <a:sym typeface="+mn-ea"/>
              </a:rPr>
              <a:t>Adjusted closing price</a:t>
            </a:r>
            <a:br>
              <a:rPr lang="en-US" altLang="zh-CN">
                <a:sym typeface="+mn-ea"/>
              </a:rPr>
            </a:br>
            <a:endParaRPr lang="en-US" altLang="zh-CN">
              <a:sym typeface="+mn-ea"/>
            </a:endParaRPr>
          </a:p>
          <a:p>
            <a:pPr algn="l"/>
            <a:r>
              <a:rPr lang="en-US" altLang="zh-CN">
                <a:sym typeface="+mn-ea"/>
              </a:rPr>
              <a:t>Daily return (calculated using log returns)</a:t>
            </a:r>
            <a:br>
              <a:rPr lang="en-US" altLang="zh-CN">
                <a:sym typeface="+mn-ea"/>
              </a:rPr>
            </a:br>
            <a:endParaRPr lang="en-US" altLang="zh-CN">
              <a:sym typeface="+mn-ea"/>
            </a:endParaRPr>
          </a:p>
          <a:p>
            <a:pPr algn="l"/>
            <a:r>
              <a:rPr lang="en-US" altLang="zh-CN">
                <a:sym typeface="+mn-ea"/>
              </a:rPr>
              <a:t>Momentum indicator: rate of price change over the past 252 trading days</a:t>
            </a:r>
            <a:endParaRPr lang="en-US" altLang="zh-CN"/>
          </a:p>
          <a:p>
            <a:pPr marL="0" indent="0" algn="l">
              <a:buNone/>
            </a:pPr>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Factor Logic</a:t>
            </a:r>
            <a:endParaRPr lang="en-US" altLang="zh-CN"/>
          </a:p>
        </p:txBody>
      </p:sp>
      <p:sp>
        <p:nvSpPr>
          <p:cNvPr id="3" name="内容占位符 2"/>
          <p:cNvSpPr>
            <a:spLocks noGrp="1"/>
          </p:cNvSpPr>
          <p:nvPr>
            <p:ph idx="1"/>
          </p:nvPr>
        </p:nvSpPr>
        <p:spPr/>
        <p:txBody>
          <a:bodyPr/>
          <a:p>
            <a:pPr algn="just"/>
            <a:r>
              <a:rPr lang="en-US" altLang="zh-CN" b="1">
                <a:sym typeface="+mn-ea"/>
              </a:rPr>
              <a:t>Definition:</a:t>
            </a:r>
            <a:r>
              <a:rPr lang="en-US" altLang="zh-CN">
                <a:sym typeface="+mn-ea"/>
              </a:rPr>
              <a:t>Momentum reflects the price trend of stocks over a specific period.</a:t>
            </a:r>
            <a:endParaRPr lang="en-US" altLang="zh-CN">
              <a:sym typeface="+mn-ea"/>
            </a:endParaRPr>
          </a:p>
          <a:p>
            <a:pPr algn="just"/>
            <a:endParaRPr lang="en-US" altLang="zh-CN" b="1"/>
          </a:p>
          <a:p>
            <a:pPr algn="just"/>
            <a:r>
              <a:rPr lang="en-US" altLang="zh-CN" b="1"/>
              <a:t>Momentum Hypothesis:</a:t>
            </a:r>
            <a:r>
              <a:rPr lang="en-US" altLang="zh-CN"/>
              <a:t> Stocks that performed well in the past tend to continue performing well.</a:t>
            </a:r>
            <a:endParaRPr lang="en-US" altLang="zh-CN"/>
          </a:p>
          <a:p>
            <a:pPr algn="just"/>
            <a:endParaRPr lang="en-US" altLang="zh-CN"/>
          </a:p>
          <a:p>
            <a:pPr algn="just"/>
            <a:r>
              <a:rPr lang="en-US" altLang="zh-CN"/>
              <a:t> Investors tend to favor consistently rising stocks, resulting in the "trend continuation phenomenon."Investor sentiment and behavior often lead to trend-following, exacerbating price movements.</a:t>
            </a:r>
            <a:endParaRPr lang="en-US" altLang="zh-CN"/>
          </a:p>
          <a:p>
            <a:pPr algn="just"/>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Strategy Design</a:t>
            </a:r>
            <a:endParaRPr lang="en-US" altLang="zh-CN"/>
          </a:p>
        </p:txBody>
      </p:sp>
      <p:sp>
        <p:nvSpPr>
          <p:cNvPr id="3" name="内容占位符 2"/>
          <p:cNvSpPr>
            <a:spLocks noGrp="1"/>
          </p:cNvSpPr>
          <p:nvPr>
            <p:ph idx="1"/>
          </p:nvPr>
        </p:nvSpPr>
        <p:spPr>
          <a:xfrm>
            <a:off x="838200" y="1825625"/>
            <a:ext cx="10803255" cy="4351655"/>
          </a:xfrm>
        </p:spPr>
        <p:txBody>
          <a:bodyPr anchor="t" anchorCtr="0">
            <a:normAutofit lnSpcReduction="10000"/>
          </a:bodyPr>
          <a:p>
            <a:pPr algn="just"/>
            <a:r>
              <a:rPr lang="en-US" altLang="zh-CN" b="1"/>
              <a:t>Universe: </a:t>
            </a:r>
            <a:r>
              <a:rPr lang="en-US" altLang="zh-CN"/>
              <a:t>Composed of S&amp;P 500 stocks, which covers the largest 500 companies in the market, ensuring high liquidity and representativeness.</a:t>
            </a:r>
            <a:endParaRPr lang="en-US" altLang="zh-CN"/>
          </a:p>
          <a:p>
            <a:pPr algn="just"/>
            <a:endParaRPr lang="en-US" altLang="zh-CN"/>
          </a:p>
          <a:p>
            <a:pPr algn="just"/>
            <a:r>
              <a:rPr lang="en-US" altLang="zh-CN" b="1"/>
              <a:t>Rebalance Frequency:</a:t>
            </a:r>
            <a:r>
              <a:rPr lang="en-US" altLang="zh-CN"/>
              <a:t>Monthly rebalancing using monthly data for risk control and dynamic adjustment.</a:t>
            </a:r>
            <a:endParaRPr lang="en-US" altLang="zh-CN"/>
          </a:p>
          <a:p>
            <a:pPr algn="just"/>
            <a:endParaRPr lang="en-US" altLang="zh-CN"/>
          </a:p>
          <a:p>
            <a:pPr algn="just"/>
            <a:r>
              <a:rPr lang="en-US" altLang="zh-CN" b="1"/>
              <a:t>Neutrality:</a:t>
            </a:r>
            <a:r>
              <a:rPr lang="en-US" altLang="zh-CN"/>
              <a:t>Aim to achieve neutrality by diversifying asset selection to mitigate excessive exposure to any single factor.Equal-weighted portfolio within groups and No sector constraints applied for risk control purpose.</a:t>
            </a:r>
            <a:endParaRPr lang="en-US" altLang="zh-CN"/>
          </a:p>
          <a:p>
            <a:pPr algn="just"/>
            <a:endParaRPr lang="en-US" altLang="zh-CN" b="1"/>
          </a:p>
          <a:p>
            <a:pPr algn="just"/>
            <a:endParaRPr lang="en-US" altLang="zh-CN" b="1"/>
          </a:p>
          <a:p>
            <a:pPr algn="just"/>
            <a:endParaRPr lang="en-US" altLang="zh-CN"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en-US" altLang="zh-CN"/>
              <a:t>Back-testing Performance</a:t>
            </a:r>
            <a:endParaRPr lang="en-US" altLang="zh-CN"/>
          </a:p>
        </p:txBody>
      </p:sp>
      <p:sp>
        <p:nvSpPr>
          <p:cNvPr id="3" name="内容占位符 2"/>
          <p:cNvSpPr>
            <a:spLocks noGrp="1"/>
          </p:cNvSpPr>
          <p:nvPr>
            <p:ph idx="1"/>
          </p:nvPr>
        </p:nvSpPr>
        <p:spPr/>
        <p:txBody>
          <a:bodyPr/>
          <a:p>
            <a:pPr algn="just"/>
            <a:r>
              <a:rPr lang="en-US" altLang="zh-CN" b="1"/>
              <a:t>Backtesting method:</a:t>
            </a:r>
            <a:r>
              <a:rPr lang="en-US" altLang="zh-CN"/>
              <a:t> Analyze the effectiveness of the momentum factor using historical data, obtaining performance metrics through monthly returns and momentum indicators.</a:t>
            </a:r>
            <a:endParaRPr lang="en-US" altLang="zh-CN"/>
          </a:p>
          <a:p>
            <a:pPr algn="just"/>
            <a:endParaRPr lang="en-US" altLang="zh-CN"/>
          </a:p>
          <a:p>
            <a:pPr algn="just"/>
            <a:r>
              <a:rPr lang="en-US" altLang="zh-CN" b="1"/>
              <a:t>Metrics Evaluated:</a:t>
            </a:r>
            <a:r>
              <a:rPr lang="en-US" altLang="zh-CN"/>
              <a:t>Annualized Return, Risk-adjusted Return (Sharpe Ratio),Hit Rate (percentage of positive returns),Turnover Rate and Information Coefficient (correlation between factor and future returns).</a:t>
            </a:r>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Annualized Return</a:t>
            </a:r>
            <a:endParaRPr lang="zh-CN" altLang="en-US"/>
          </a:p>
        </p:txBody>
      </p:sp>
      <p:pic>
        <p:nvPicPr>
          <p:cNvPr id="4" name="图片 3" descr="4eb24823-2764-46c4-b842-e69c6b423adc"/>
          <p:cNvPicPr>
            <a:picLocks noChangeAspect="1"/>
          </p:cNvPicPr>
          <p:nvPr/>
        </p:nvPicPr>
        <p:blipFill>
          <a:blip r:embed="rId1"/>
          <a:stretch>
            <a:fillRect/>
          </a:stretch>
        </p:blipFill>
        <p:spPr>
          <a:xfrm>
            <a:off x="920750" y="1825625"/>
            <a:ext cx="5252720" cy="4351020"/>
          </a:xfrm>
          <a:prstGeom prst="rect">
            <a:avLst/>
          </a:prstGeom>
        </p:spPr>
      </p:pic>
      <p:sp>
        <p:nvSpPr>
          <p:cNvPr id="7" name="文本框 6"/>
          <p:cNvSpPr txBox="1"/>
          <p:nvPr/>
        </p:nvSpPr>
        <p:spPr>
          <a:xfrm>
            <a:off x="7202170" y="2995930"/>
            <a:ext cx="3938905" cy="1753235"/>
          </a:xfrm>
          <a:prstGeom prst="rect">
            <a:avLst/>
          </a:prstGeom>
          <a:noFill/>
        </p:spPr>
        <p:txBody>
          <a:bodyPr wrap="square" rtlCol="0">
            <a:spAutoFit/>
          </a:bodyPr>
          <a:p>
            <a:pPr marL="285750" indent="-285750" algn="just">
              <a:buFont typeface="Arial" panose="020B0604020202020204" pitchFamily="34" charset="0"/>
              <a:buChar char="•"/>
            </a:pPr>
            <a:r>
              <a:rPr lang="en-US" altLang="zh-CN">
                <a:sym typeface="+mn-ea"/>
              </a:rPr>
              <a:t>In periods of good performance, the strategy performed exceptionally well, capturing the upward trend in a strong market.</a:t>
            </a:r>
            <a:endParaRPr lang="en-US" altLang="zh-CN">
              <a:sym typeface="+mn-ea"/>
            </a:endParaRPr>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COVID-19 effect</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Risk-adjusted Return</a:t>
            </a:r>
            <a:endParaRPr lang="zh-CN" altLang="en-US"/>
          </a:p>
        </p:txBody>
      </p:sp>
      <p:pic>
        <p:nvPicPr>
          <p:cNvPr id="4" name="图片 3" descr="de5a8308-163a-49b9-8ec1-9d33a55c1f09"/>
          <p:cNvPicPr>
            <a:picLocks noChangeAspect="1"/>
          </p:cNvPicPr>
          <p:nvPr/>
        </p:nvPicPr>
        <p:blipFill>
          <a:blip r:embed="rId1"/>
          <a:stretch>
            <a:fillRect/>
          </a:stretch>
        </p:blipFill>
        <p:spPr>
          <a:xfrm>
            <a:off x="838200" y="1826260"/>
            <a:ext cx="4881880" cy="4350385"/>
          </a:xfrm>
          <a:prstGeom prst="rect">
            <a:avLst/>
          </a:prstGeom>
        </p:spPr>
      </p:pic>
      <p:sp>
        <p:nvSpPr>
          <p:cNvPr id="5" name="文本框 4"/>
          <p:cNvSpPr txBox="1"/>
          <p:nvPr/>
        </p:nvSpPr>
        <p:spPr>
          <a:xfrm>
            <a:off x="6790690" y="2564130"/>
            <a:ext cx="4780280" cy="3138170"/>
          </a:xfrm>
          <a:prstGeom prst="rect">
            <a:avLst/>
          </a:prstGeom>
          <a:noFill/>
        </p:spPr>
        <p:txBody>
          <a:bodyPr wrap="square" rtlCol="0">
            <a:spAutoFit/>
          </a:bodyPr>
          <a:p>
            <a:pPr algn="just"/>
            <a:r>
              <a:rPr lang="en-US" altLang="zh-CN">
                <a:sym typeface="+mn-ea"/>
              </a:rPr>
              <a:t>In periods of poor performance,  the market experienced increased volatility, and the strategy failed to adjust effectively, leading to a breakdown of momentum signals.</a:t>
            </a:r>
            <a:endParaRPr lang="en-US" altLang="zh-CN">
              <a:sym typeface="+mn-ea"/>
            </a:endParaRPr>
          </a:p>
          <a:p>
            <a:pPr algn="just"/>
            <a:endParaRPr lang="en-US" altLang="zh-CN">
              <a:sym typeface="+mn-ea"/>
            </a:endParaRPr>
          </a:p>
          <a:p>
            <a:pPr algn="just"/>
            <a:r>
              <a:rPr lang="en-US" altLang="zh-CN">
                <a:sym typeface="+mn-ea"/>
              </a:rPr>
              <a:t>Momentum strategies may encounter reversals in uncertain market conditions, resulting in losses.</a:t>
            </a:r>
            <a:br>
              <a:rPr lang="en-US" altLang="zh-CN">
                <a:sym typeface="+mn-ea"/>
              </a:rPr>
            </a:br>
            <a:br>
              <a:rPr lang="en-US" altLang="zh-CN">
                <a:sym typeface="+mn-ea"/>
              </a:rPr>
            </a:br>
            <a:endParaRPr lang="en-US" altLang="zh-CN">
              <a:sym typeface="+mn-ea"/>
            </a:endParaRPr>
          </a:p>
          <a:p>
            <a:pPr algn="just"/>
            <a:endParaRPr lang="en-US" altLang="zh-CN"/>
          </a:p>
          <a:p>
            <a:pPr algn="just"/>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Hit Rate</a:t>
            </a:r>
            <a:endParaRPr lang="en-US" altLang="zh-CN"/>
          </a:p>
        </p:txBody>
      </p:sp>
      <p:sp>
        <p:nvSpPr>
          <p:cNvPr id="5" name="文本框 4"/>
          <p:cNvSpPr txBox="1"/>
          <p:nvPr/>
        </p:nvSpPr>
        <p:spPr>
          <a:xfrm>
            <a:off x="6954520" y="1691005"/>
            <a:ext cx="4737735" cy="4523105"/>
          </a:xfrm>
          <a:prstGeom prst="rect">
            <a:avLst/>
          </a:prstGeom>
          <a:noFill/>
        </p:spPr>
        <p:txBody>
          <a:bodyPr wrap="square" rtlCol="0">
            <a:spAutoFit/>
          </a:bodyPr>
          <a:p>
            <a:pPr marL="285750" indent="-285750" algn="just">
              <a:buFont typeface="Arial" panose="020B0604020202020204" pitchFamily="34" charset="0"/>
              <a:buChar char="•"/>
            </a:pPr>
            <a:r>
              <a:rPr lang="en-US" altLang="zh-CN"/>
              <a:t>% of stocks outperform the benchmark for in the basket</a:t>
            </a:r>
            <a:endParaRPr lang="en-US" altLang="zh-CN"/>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Measure the breath of the signal</a:t>
            </a:r>
            <a:endParaRPr lang="en-US" altLang="zh-CN"/>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We set benchmark = 0.</a:t>
            </a:r>
            <a:endParaRPr lang="en-US" altLang="zh-CN"/>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Portfolio outperformed benchmark(positive).</a:t>
            </a:r>
            <a:endParaRPr lang="en-US" altLang="zh-CN"/>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The portfolio performance is lower than the benchmark(negative).</a:t>
            </a:r>
            <a:endParaRPr lang="en-US" altLang="zh-CN"/>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A high hit rate indicates that the strategy is successful, while a low hit rate may need to be adjusted.</a:t>
            </a:r>
            <a:endParaRPr lang="en-US" altLang="zh-CN"/>
          </a:p>
          <a:p>
            <a:pPr marL="285750" indent="-285750" algn="just">
              <a:buFont typeface="Arial" panose="020B0604020202020204" pitchFamily="34" charset="0"/>
              <a:buChar char="•"/>
            </a:pPr>
            <a:endParaRPr lang="en-US" altLang="zh-CN"/>
          </a:p>
        </p:txBody>
      </p:sp>
      <p:pic>
        <p:nvPicPr>
          <p:cNvPr id="6" name="图片 5" descr="f1ad75d8-d4d4-4489-b60f-d297f14d0205"/>
          <p:cNvPicPr>
            <a:picLocks noChangeAspect="1"/>
          </p:cNvPicPr>
          <p:nvPr/>
        </p:nvPicPr>
        <p:blipFill>
          <a:blip r:embed="rId1"/>
          <a:stretch>
            <a:fillRect/>
          </a:stretch>
        </p:blipFill>
        <p:spPr>
          <a:xfrm>
            <a:off x="838200" y="1398270"/>
            <a:ext cx="5396230" cy="47072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Turnover</a:t>
            </a:r>
            <a:endParaRPr lang="en-US" altLang="zh-CN"/>
          </a:p>
        </p:txBody>
      </p:sp>
      <p:sp>
        <p:nvSpPr>
          <p:cNvPr id="5" name="文本框 4"/>
          <p:cNvSpPr txBox="1"/>
          <p:nvPr/>
        </p:nvSpPr>
        <p:spPr>
          <a:xfrm>
            <a:off x="6697345" y="2872740"/>
            <a:ext cx="3209925" cy="1753235"/>
          </a:xfrm>
          <a:prstGeom prst="rect">
            <a:avLst/>
          </a:prstGeom>
          <a:noFill/>
        </p:spPr>
        <p:txBody>
          <a:bodyPr wrap="square" rtlCol="0">
            <a:spAutoFit/>
          </a:bodyPr>
          <a:p>
            <a:pPr marL="285750" indent="-285750" algn="just">
              <a:buFont typeface="Arial" panose="020B0604020202020204" pitchFamily="34" charset="0"/>
              <a:buChar char="•"/>
            </a:pPr>
            <a:r>
              <a:rPr lang="en-US" altLang="zh-CN"/>
              <a:t>% of stocks are changed in the portfolio per annum</a:t>
            </a:r>
            <a:endParaRPr lang="en-US" altLang="zh-CN"/>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 Higher the turnover, higher the transaction cost</a:t>
            </a:r>
            <a:endParaRPr lang="en-US" altLang="zh-CN"/>
          </a:p>
          <a:p>
            <a:pPr marL="285750" indent="-285750" algn="just">
              <a:buFont typeface="Arial" panose="020B0604020202020204" pitchFamily="34" charset="0"/>
              <a:buChar char="•"/>
            </a:pPr>
            <a:endParaRPr lang="en-US" altLang="zh-CN"/>
          </a:p>
        </p:txBody>
      </p:sp>
      <p:pic>
        <p:nvPicPr>
          <p:cNvPr id="6" name="图片 5" descr="3197e3d9-07ac-4004-9075-d6c63e7f4417"/>
          <p:cNvPicPr>
            <a:picLocks noChangeAspect="1"/>
          </p:cNvPicPr>
          <p:nvPr/>
        </p:nvPicPr>
        <p:blipFill>
          <a:blip r:embed="rId1"/>
          <a:stretch>
            <a:fillRect/>
          </a:stretch>
        </p:blipFill>
        <p:spPr>
          <a:xfrm>
            <a:off x="838200" y="1691005"/>
            <a:ext cx="4655820" cy="40614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Information Coefficient</a:t>
            </a:r>
            <a:endParaRPr lang="en-US" altLang="zh-CN"/>
          </a:p>
        </p:txBody>
      </p:sp>
      <p:pic>
        <p:nvPicPr>
          <p:cNvPr id="4" name="图片 3" descr="e8b14fae-1214-4294-9421-c6ddd4d17dc3"/>
          <p:cNvPicPr>
            <a:picLocks noChangeAspect="1"/>
          </p:cNvPicPr>
          <p:nvPr/>
        </p:nvPicPr>
        <p:blipFill>
          <a:blip r:embed="rId1"/>
          <a:stretch>
            <a:fillRect/>
          </a:stretch>
        </p:blipFill>
        <p:spPr>
          <a:xfrm>
            <a:off x="838200" y="1825625"/>
            <a:ext cx="6292215" cy="4351020"/>
          </a:xfrm>
          <a:prstGeom prst="rect">
            <a:avLst/>
          </a:prstGeom>
        </p:spPr>
      </p:pic>
      <p:sp>
        <p:nvSpPr>
          <p:cNvPr id="5" name="文本框 4"/>
          <p:cNvSpPr txBox="1"/>
          <p:nvPr/>
        </p:nvSpPr>
        <p:spPr>
          <a:xfrm>
            <a:off x="6935470" y="1983740"/>
            <a:ext cx="4844415" cy="4523105"/>
          </a:xfrm>
          <a:prstGeom prst="rect">
            <a:avLst/>
          </a:prstGeom>
          <a:noFill/>
        </p:spPr>
        <p:txBody>
          <a:bodyPr wrap="square" rtlCol="0">
            <a:spAutoFit/>
          </a:bodyPr>
          <a:p>
            <a:pPr marL="285750" indent="-285750" algn="just">
              <a:buFont typeface="Arial" panose="020B0604020202020204" pitchFamily="34" charset="0"/>
              <a:buChar char="•"/>
            </a:pPr>
            <a:r>
              <a:rPr lang="en-US" altLang="zh-CN"/>
              <a:t>Rank correlation between the signal and subsequent period returns</a:t>
            </a:r>
            <a:endParaRPr lang="en-US" altLang="zh-CN"/>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Measure the prediction power of the signal, the IC value typically ranges from -1 to 1; the closer to 1, the stronger the predictive power of the signal.</a:t>
            </a:r>
            <a:endParaRPr lang="en-US" altLang="zh-CN"/>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indicates a positive correlation between the signal and subsequent returns, suggesting the signal can effectively predict future gains.</a:t>
            </a:r>
            <a:endParaRPr lang="en-US" altLang="zh-CN"/>
          </a:p>
          <a:p>
            <a:pPr marL="285750" indent="-285750" algn="just">
              <a:buFont typeface="Arial" panose="020B0604020202020204" pitchFamily="34" charset="0"/>
              <a:buChar char="•"/>
            </a:pPr>
            <a:endParaRPr lang="en-US" altLang="zh-CN"/>
          </a:p>
          <a:p>
            <a:pPr marL="285750" indent="-285750" algn="just">
              <a:buFont typeface="Arial" panose="020B0604020202020204" pitchFamily="34" charset="0"/>
              <a:buChar char="•"/>
            </a:pPr>
            <a:r>
              <a:rPr lang="en-US" altLang="zh-CN"/>
              <a:t>Indicates a negative correlation between the signal and subsequent returns, suggesting poor predictive power of the signal.</a:t>
            </a:r>
            <a:endParaRPr lang="en-US" altLang="zh-CN"/>
          </a:p>
          <a:p>
            <a:pPr marL="285750" indent="-285750" algn="just">
              <a:buFont typeface="Arial" panose="020B0604020202020204" pitchFamily="34" charset="0"/>
              <a:buChar char="•"/>
            </a:pPr>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Strategy Failure Analysis</a:t>
            </a:r>
            <a:endParaRPr lang="en-US" altLang="zh-CN"/>
          </a:p>
        </p:txBody>
      </p:sp>
      <p:sp>
        <p:nvSpPr>
          <p:cNvPr id="3" name="内容占位符 2"/>
          <p:cNvSpPr>
            <a:spLocks noGrp="1"/>
          </p:cNvSpPr>
          <p:nvPr>
            <p:ph idx="1"/>
          </p:nvPr>
        </p:nvSpPr>
        <p:spPr/>
        <p:txBody>
          <a:bodyPr/>
          <a:p>
            <a:r>
              <a:rPr lang="en-US" altLang="zh-CN" b="1"/>
              <a:t>Weak Periods:</a:t>
            </a:r>
            <a:endParaRPr lang="en-US" altLang="zh-CN" b="1"/>
          </a:p>
          <a:p>
            <a:pPr lvl="1"/>
            <a:r>
              <a:rPr lang="en-US" altLang="zh-CN" b="1"/>
              <a:t>Market condition changes:</a:t>
            </a:r>
            <a:r>
              <a:rPr lang="en-US" altLang="zh-CN"/>
              <a:t> Momentum strategies often perform well in trending markets but may fail in choppy or directionless markets.</a:t>
            </a:r>
            <a:endParaRPr lang="en-US" altLang="zh-CN"/>
          </a:p>
          <a:p>
            <a:pPr lvl="1"/>
            <a:r>
              <a:rPr lang="en-US" altLang="zh-CN" b="1"/>
              <a:t>Changes in investor behavior:</a:t>
            </a:r>
            <a:r>
              <a:rPr lang="en-US" altLang="zh-CN"/>
              <a:t> Market sentiment shifts and popular investment styles can affect the effectiveness of momentum factors.</a:t>
            </a:r>
            <a:endParaRPr lang="en-US" altLang="zh-CN"/>
          </a:p>
          <a:p>
            <a:pPr lvl="1"/>
            <a:r>
              <a:rPr lang="en-US" altLang="zh-CN"/>
              <a:t>Complexity of the model: Less complexity and risk filter.</a:t>
            </a:r>
            <a:endParaRPr lang="en-US" altLang="zh-CN"/>
          </a:p>
          <a:p>
            <a:pPr marL="228600" lvl="0" indent="-228600">
              <a:buFont typeface="Arial" panose="020B0604020202020204" pitchFamily="34" charset="0"/>
              <a:buChar char="•"/>
            </a:pPr>
            <a:r>
              <a:rPr lang="en-US" altLang="zh-CN" b="1">
                <a:solidFill>
                  <a:schemeClr val="tx1"/>
                </a:solidFill>
              </a:rPr>
              <a:t>Potential Improvements:</a:t>
            </a:r>
            <a:r>
              <a:rPr lang="en-US" altLang="zh-CN">
                <a:solidFill>
                  <a:schemeClr val="tx1"/>
                </a:solidFill>
              </a:rPr>
              <a:t> Continuous adjustments and optimizations are needed to improve adaptability and robustness. Like Adding a risk filter (e.g., volatility adjustments).</a:t>
            </a:r>
            <a:endParaRPr lang="en-US" altLang="zh-CN">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Conclusion and future work</a:t>
            </a:r>
            <a:endParaRPr lang="en-US" altLang="zh-CN"/>
          </a:p>
        </p:txBody>
      </p:sp>
      <p:sp>
        <p:nvSpPr>
          <p:cNvPr id="3" name="内容占位符 2"/>
          <p:cNvSpPr>
            <a:spLocks noGrp="1"/>
          </p:cNvSpPr>
          <p:nvPr>
            <p:ph idx="1"/>
          </p:nvPr>
        </p:nvSpPr>
        <p:spPr>
          <a:xfrm>
            <a:off x="838200" y="1825625"/>
            <a:ext cx="10997565" cy="4351655"/>
          </a:xfrm>
        </p:spPr>
        <p:txBody>
          <a:bodyPr/>
          <a:p>
            <a:pPr algn="just"/>
            <a:r>
              <a:rPr lang="en-US" altLang="zh-CN" b="1"/>
              <a:t>Conclusion:</a:t>
            </a:r>
            <a:r>
              <a:rPr lang="en-US" altLang="zh-CN"/>
              <a:t>The momentum factor performs excellently in specific market environments but requires cautious application. In other words, Momentum is an effective strategy, but has its risks.</a:t>
            </a:r>
            <a:endParaRPr lang="en-US" altLang="zh-CN"/>
          </a:p>
          <a:p>
            <a:pPr algn="just"/>
            <a:r>
              <a:rPr lang="en-US" altLang="zh-CN" b="1"/>
              <a:t>Future work:</a:t>
            </a:r>
            <a:r>
              <a:rPr lang="en-US" altLang="zh-CN"/>
              <a:t> </a:t>
            </a:r>
            <a:endParaRPr lang="en-US" altLang="zh-CN"/>
          </a:p>
          <a:p>
            <a:pPr marL="685800" lvl="1" indent="-228600" algn="just">
              <a:buFont typeface="Arial" panose="020B0604020202020204" pitchFamily="34" charset="0"/>
              <a:buChar char="•"/>
            </a:pPr>
            <a:r>
              <a:rPr lang="en-US" altLang="zh-CN" sz="2800">
                <a:solidFill>
                  <a:schemeClr val="tx1"/>
                </a:solidFill>
              </a:rPr>
              <a:t>Consider integrating other factors (such as value, low volatility) for improved performance.</a:t>
            </a:r>
            <a:endParaRPr lang="en-US" altLang="zh-CN" sz="2800">
              <a:solidFill>
                <a:schemeClr val="tx1"/>
              </a:solidFill>
            </a:endParaRPr>
          </a:p>
          <a:p>
            <a:pPr marL="685800" lvl="1" indent="-228600" algn="just">
              <a:buFont typeface="Arial" panose="020B0604020202020204" pitchFamily="34" charset="0"/>
              <a:buChar char="•"/>
            </a:pPr>
            <a:r>
              <a:rPr lang="en-US" altLang="zh-CN" sz="2800">
                <a:solidFill>
                  <a:schemeClr val="tx1"/>
                </a:solidFill>
              </a:rPr>
              <a:t>Conduct in-depth research on how market changes impact factor performance to optimize strategy design.</a:t>
            </a:r>
            <a:endParaRPr lang="en-US" altLang="zh-CN" sz="2800">
              <a:solidFill>
                <a:schemeClr val="tx1"/>
              </a:solidFill>
            </a:endParaRPr>
          </a:p>
          <a:p>
            <a:pPr marL="685800" lvl="1" indent="-228600" algn="just">
              <a:buFont typeface="Arial" panose="020B0604020202020204" pitchFamily="34" charset="0"/>
              <a:buChar char="•"/>
            </a:pPr>
            <a:r>
              <a:rPr lang="en-US" altLang="zh-CN" sz="2800">
                <a:solidFill>
                  <a:schemeClr val="tx1"/>
                </a:solidFill>
              </a:rPr>
              <a:t>Explore multi-factor models for better risk management.</a:t>
            </a:r>
            <a:endParaRPr lang="en-US" altLang="zh-CN" sz="280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32460" y="1105535"/>
            <a:ext cx="10515600" cy="4351338"/>
          </a:xfrm>
        </p:spPr>
        <p:txBody>
          <a:bodyPr anchor="ctr" anchorCtr="0"/>
          <a:p>
            <a:pPr marL="0" indent="0" algn="ctr">
              <a:buNone/>
            </a:pPr>
            <a:r>
              <a:rPr lang="en-US" altLang="zh-CN" sz="6600"/>
              <a:t>Thank you</a:t>
            </a:r>
            <a:endParaRPr lang="en-US" altLang="zh-CN" sz="660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5093</Words>
  <Application>WPS 演示</Application>
  <PresentationFormat>宽屏</PresentationFormat>
  <Paragraphs>116</Paragraphs>
  <Slides>15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Arial</vt:lpstr>
      <vt:lpstr>宋体</vt:lpstr>
      <vt:lpstr>Wingdings</vt:lpstr>
      <vt:lpstr>Calibri</vt:lpstr>
      <vt:lpstr>微软雅黑</vt:lpstr>
      <vt:lpstr>Arial Unicode MS</vt:lpstr>
      <vt:lpstr>WPS</vt:lpstr>
      <vt:lpstr>Singal Factor-Based Investment Strategy of S%P 500 index</vt:lpstr>
      <vt:lpstr>Introduction</vt:lpstr>
      <vt:lpstr>Data Description</vt:lpstr>
      <vt:lpstr>Key indicators</vt:lpstr>
      <vt:lpstr>Factor Logic</vt:lpstr>
      <vt:lpstr>Strategy Design</vt:lpstr>
      <vt:lpstr>Back-testing Performance</vt:lpstr>
      <vt:lpstr>Annualized Return</vt:lpstr>
      <vt:lpstr>Risk-adjusted Return</vt:lpstr>
      <vt:lpstr>Hit Rate</vt:lpstr>
      <vt:lpstr>Turnover</vt:lpstr>
      <vt:lpstr>Information Coefficient</vt:lpstr>
      <vt:lpstr>Strategy Failure Analysis</vt:lpstr>
      <vt:lpstr>Conclusion and future work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wxx</dc:creator>
  <cp:lastModifiedBy>Cain</cp:lastModifiedBy>
  <cp:revision>5</cp:revision>
  <dcterms:created xsi:type="dcterms:W3CDTF">2023-08-09T12:44:00Z</dcterms:created>
  <dcterms:modified xsi:type="dcterms:W3CDTF">2025-03-14T14:31:20Z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2052-12.1.0.20305</vt:lpwstr>
  </property>
</Properties>
</file>